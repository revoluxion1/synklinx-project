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
  </p:notesMasterIdLst>
  <p:handoutMasterIdLst>
    <p:handoutMasterId r:id="rId4"/>
  </p:handoutMasterIdLst>
  <p:sldIdLst>
    <p:sldId id="256" r:id="rId2"/>
  </p:sldIdLst>
  <p:sldSz cx="38404800" cy="27432000"/>
  <p:notesSz cx="9236075" cy="7010400"/>
  <p:defaultTextStyle>
    <a:defPPr>
      <a:defRPr lang="en-US"/>
    </a:defPPr>
    <a:lvl1pPr algn="l" rtl="0" eaLnBrk="0" fontAlgn="base" hangingPunct="0">
      <a:spcBef>
        <a:spcPct val="0"/>
      </a:spcBef>
      <a:spcAft>
        <a:spcPct val="0"/>
      </a:spcAft>
      <a:defRPr sz="4000" b="1" kern="1200">
        <a:solidFill>
          <a:srgbClr val="003399"/>
        </a:solidFill>
        <a:latin typeface="Arial" charset="0"/>
        <a:ea typeface="+mn-ea"/>
        <a:cs typeface="+mn-cs"/>
      </a:defRPr>
    </a:lvl1pPr>
    <a:lvl2pPr marL="457200" algn="l" rtl="0" eaLnBrk="0" fontAlgn="base" hangingPunct="0">
      <a:spcBef>
        <a:spcPct val="0"/>
      </a:spcBef>
      <a:spcAft>
        <a:spcPct val="0"/>
      </a:spcAft>
      <a:defRPr sz="4000" b="1" kern="1200">
        <a:solidFill>
          <a:srgbClr val="003399"/>
        </a:solidFill>
        <a:latin typeface="Arial" charset="0"/>
        <a:ea typeface="+mn-ea"/>
        <a:cs typeface="+mn-cs"/>
      </a:defRPr>
    </a:lvl2pPr>
    <a:lvl3pPr marL="914400" algn="l" rtl="0" eaLnBrk="0" fontAlgn="base" hangingPunct="0">
      <a:spcBef>
        <a:spcPct val="0"/>
      </a:spcBef>
      <a:spcAft>
        <a:spcPct val="0"/>
      </a:spcAft>
      <a:defRPr sz="4000" b="1" kern="1200">
        <a:solidFill>
          <a:srgbClr val="003399"/>
        </a:solidFill>
        <a:latin typeface="Arial" charset="0"/>
        <a:ea typeface="+mn-ea"/>
        <a:cs typeface="+mn-cs"/>
      </a:defRPr>
    </a:lvl3pPr>
    <a:lvl4pPr marL="1371600" algn="l" rtl="0" eaLnBrk="0" fontAlgn="base" hangingPunct="0">
      <a:spcBef>
        <a:spcPct val="0"/>
      </a:spcBef>
      <a:spcAft>
        <a:spcPct val="0"/>
      </a:spcAft>
      <a:defRPr sz="4000" b="1" kern="1200">
        <a:solidFill>
          <a:srgbClr val="003399"/>
        </a:solidFill>
        <a:latin typeface="Arial" charset="0"/>
        <a:ea typeface="+mn-ea"/>
        <a:cs typeface="+mn-cs"/>
      </a:defRPr>
    </a:lvl4pPr>
    <a:lvl5pPr marL="1828800" algn="l" rtl="0" eaLnBrk="0" fontAlgn="base" hangingPunct="0">
      <a:spcBef>
        <a:spcPct val="0"/>
      </a:spcBef>
      <a:spcAft>
        <a:spcPct val="0"/>
      </a:spcAft>
      <a:defRPr sz="4000" b="1" kern="1200">
        <a:solidFill>
          <a:srgbClr val="003399"/>
        </a:solidFill>
        <a:latin typeface="Arial" charset="0"/>
        <a:ea typeface="+mn-ea"/>
        <a:cs typeface="+mn-cs"/>
      </a:defRPr>
    </a:lvl5pPr>
    <a:lvl6pPr marL="2286000" algn="l" defTabSz="914400" rtl="0" eaLnBrk="1" latinLnBrk="0" hangingPunct="1">
      <a:defRPr sz="4000" b="1" kern="1200">
        <a:solidFill>
          <a:srgbClr val="003399"/>
        </a:solidFill>
        <a:latin typeface="Arial" charset="0"/>
        <a:ea typeface="+mn-ea"/>
        <a:cs typeface="+mn-cs"/>
      </a:defRPr>
    </a:lvl6pPr>
    <a:lvl7pPr marL="2743200" algn="l" defTabSz="914400" rtl="0" eaLnBrk="1" latinLnBrk="0" hangingPunct="1">
      <a:defRPr sz="4000" b="1" kern="1200">
        <a:solidFill>
          <a:srgbClr val="003399"/>
        </a:solidFill>
        <a:latin typeface="Arial" charset="0"/>
        <a:ea typeface="+mn-ea"/>
        <a:cs typeface="+mn-cs"/>
      </a:defRPr>
    </a:lvl7pPr>
    <a:lvl8pPr marL="3200400" algn="l" defTabSz="914400" rtl="0" eaLnBrk="1" latinLnBrk="0" hangingPunct="1">
      <a:defRPr sz="4000" b="1" kern="1200">
        <a:solidFill>
          <a:srgbClr val="003399"/>
        </a:solidFill>
        <a:latin typeface="Arial" charset="0"/>
        <a:ea typeface="+mn-ea"/>
        <a:cs typeface="+mn-cs"/>
      </a:defRPr>
    </a:lvl8pPr>
    <a:lvl9pPr marL="3657600" algn="l" defTabSz="914400" rtl="0" eaLnBrk="1" latinLnBrk="0" hangingPunct="1">
      <a:defRPr sz="4000" b="1" kern="1200">
        <a:solidFill>
          <a:srgbClr val="003399"/>
        </a:solidFill>
        <a:latin typeface="Arial" charset="0"/>
        <a:ea typeface="+mn-ea"/>
        <a:cs typeface="+mn-cs"/>
      </a:defRPr>
    </a:lvl9pPr>
  </p:defaultTextStyle>
  <p:extLst>
    <p:ext uri="{EFAFB233-063F-42B5-8137-9DF3F51BA10A}">
      <p15:sldGuideLst xmlns:p15="http://schemas.microsoft.com/office/powerpoint/2012/main">
        <p15:guide id="1" orient="horz" pos="8640">
          <p15:clr>
            <a:srgbClr val="A4A3A4"/>
          </p15:clr>
        </p15:guide>
        <p15:guide id="2" pos="1209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003399"/>
    <a:srgbClr val="EAEAEA"/>
    <a:srgbClr val="CBECDE"/>
    <a:srgbClr val="002D74"/>
    <a:srgbClr val="E65300"/>
    <a:srgbClr val="16234F"/>
    <a:srgbClr val="A50021"/>
    <a:srgbClr val="000066"/>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6348" autoAdjust="0"/>
    <p:restoredTop sz="87521" autoAdjust="0"/>
  </p:normalViewPr>
  <p:slideViewPr>
    <p:cSldViewPr>
      <p:cViewPr>
        <p:scale>
          <a:sx n="30" d="100"/>
          <a:sy n="30" d="100"/>
        </p:scale>
        <p:origin x="552" y="-288"/>
      </p:cViewPr>
      <p:guideLst>
        <p:guide orient="horz" pos="8640"/>
        <p:guide pos="1209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jjabr\Documents\Fall%202025%20Senior%20Design%20Project\Experimental%20and%20Actual%20Data%20Plots%20for%20SDP%2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jjabr\Documents\Fall%202025%20Senior%20Design%20Project\Experimental%20and%20Actual%20Data%20Plots%20for%20SDP%20.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jjabr\Documents\Fall%202025%20Senior%20Design%20Project\Experimental%20and%20Actual%20Data%20Plots%20for%20SDP%20.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Blood Oxygen Level</a:t>
            </a:r>
            <a:r>
              <a:rPr lang="en-US" baseline="0" dirty="0"/>
              <a:t> Results</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v>Pulse Oximeter</c:v>
          </c:tx>
          <c:spPr>
            <a:ln w="28575" cap="rnd">
              <a:solidFill>
                <a:schemeClr val="accent2"/>
              </a:solidFill>
              <a:round/>
            </a:ln>
            <a:effectLst/>
          </c:spPr>
          <c:marker>
            <c:symbol val="none"/>
          </c:marker>
          <c:val>
            <c:numRef>
              <c:f>Sheet1!$B$2:$AE$2</c:f>
              <c:numCache>
                <c:formatCode>General</c:formatCode>
                <c:ptCount val="30"/>
                <c:pt idx="0">
                  <c:v>96</c:v>
                </c:pt>
                <c:pt idx="1">
                  <c:v>96</c:v>
                </c:pt>
                <c:pt idx="2">
                  <c:v>96</c:v>
                </c:pt>
                <c:pt idx="3">
                  <c:v>96</c:v>
                </c:pt>
                <c:pt idx="4">
                  <c:v>94</c:v>
                </c:pt>
                <c:pt idx="5">
                  <c:v>94</c:v>
                </c:pt>
                <c:pt idx="6">
                  <c:v>95</c:v>
                </c:pt>
                <c:pt idx="7">
                  <c:v>95</c:v>
                </c:pt>
                <c:pt idx="8">
                  <c:v>95</c:v>
                </c:pt>
                <c:pt idx="9">
                  <c:v>96</c:v>
                </c:pt>
                <c:pt idx="10">
                  <c:v>96</c:v>
                </c:pt>
                <c:pt idx="11">
                  <c:v>96</c:v>
                </c:pt>
                <c:pt idx="12">
                  <c:v>96</c:v>
                </c:pt>
                <c:pt idx="13">
                  <c:v>96</c:v>
                </c:pt>
                <c:pt idx="14">
                  <c:v>96</c:v>
                </c:pt>
                <c:pt idx="15">
                  <c:v>96</c:v>
                </c:pt>
                <c:pt idx="16">
                  <c:v>96</c:v>
                </c:pt>
                <c:pt idx="17">
                  <c:v>97</c:v>
                </c:pt>
                <c:pt idx="18">
                  <c:v>97</c:v>
                </c:pt>
                <c:pt idx="19">
                  <c:v>97</c:v>
                </c:pt>
                <c:pt idx="20">
                  <c:v>97</c:v>
                </c:pt>
                <c:pt idx="21">
                  <c:v>97</c:v>
                </c:pt>
                <c:pt idx="22">
                  <c:v>97</c:v>
                </c:pt>
                <c:pt idx="23">
                  <c:v>97</c:v>
                </c:pt>
                <c:pt idx="24">
                  <c:v>97</c:v>
                </c:pt>
                <c:pt idx="25">
                  <c:v>97</c:v>
                </c:pt>
                <c:pt idx="26">
                  <c:v>97</c:v>
                </c:pt>
                <c:pt idx="27">
                  <c:v>97</c:v>
                </c:pt>
                <c:pt idx="28">
                  <c:v>97</c:v>
                </c:pt>
                <c:pt idx="29">
                  <c:v>97</c:v>
                </c:pt>
              </c:numCache>
            </c:numRef>
          </c:val>
          <c:smooth val="0"/>
          <c:extLst>
            <c:ext xmlns:c16="http://schemas.microsoft.com/office/drawing/2014/chart" uri="{C3380CC4-5D6E-409C-BE32-E72D297353CC}">
              <c16:uniqueId val="{00000000-9875-4771-9563-DCA4AFC11CDF}"/>
            </c:ext>
          </c:extLst>
        </c:ser>
        <c:ser>
          <c:idx val="1"/>
          <c:order val="1"/>
          <c:tx>
            <c:v>SynkLinx</c:v>
          </c:tx>
          <c:spPr>
            <a:ln w="28575" cap="rnd">
              <a:solidFill>
                <a:schemeClr val="accent4"/>
              </a:solidFill>
              <a:round/>
            </a:ln>
            <a:effectLst/>
          </c:spPr>
          <c:marker>
            <c:symbol val="none"/>
          </c:marker>
          <c:val>
            <c:numRef>
              <c:f>Sheet1!$B$12:$AE$12</c:f>
              <c:numCache>
                <c:formatCode>General</c:formatCode>
                <c:ptCount val="30"/>
                <c:pt idx="0">
                  <c:v>97</c:v>
                </c:pt>
                <c:pt idx="1">
                  <c:v>97</c:v>
                </c:pt>
                <c:pt idx="2">
                  <c:v>97</c:v>
                </c:pt>
                <c:pt idx="3">
                  <c:v>97</c:v>
                </c:pt>
                <c:pt idx="4">
                  <c:v>97</c:v>
                </c:pt>
                <c:pt idx="5">
                  <c:v>98</c:v>
                </c:pt>
                <c:pt idx="6">
                  <c:v>97</c:v>
                </c:pt>
                <c:pt idx="7">
                  <c:v>96</c:v>
                </c:pt>
                <c:pt idx="8">
                  <c:v>96</c:v>
                </c:pt>
                <c:pt idx="9">
                  <c:v>96</c:v>
                </c:pt>
                <c:pt idx="10">
                  <c:v>96</c:v>
                </c:pt>
                <c:pt idx="11">
                  <c:v>96</c:v>
                </c:pt>
                <c:pt idx="12">
                  <c:v>96</c:v>
                </c:pt>
                <c:pt idx="13">
                  <c:v>96</c:v>
                </c:pt>
                <c:pt idx="14">
                  <c:v>96</c:v>
                </c:pt>
                <c:pt idx="15">
                  <c:v>96</c:v>
                </c:pt>
                <c:pt idx="16">
                  <c:v>96</c:v>
                </c:pt>
                <c:pt idx="17">
                  <c:v>96</c:v>
                </c:pt>
                <c:pt idx="18">
                  <c:v>96</c:v>
                </c:pt>
                <c:pt idx="19">
                  <c:v>95</c:v>
                </c:pt>
                <c:pt idx="20">
                  <c:v>95</c:v>
                </c:pt>
                <c:pt idx="21">
                  <c:v>95</c:v>
                </c:pt>
                <c:pt idx="22">
                  <c:v>96</c:v>
                </c:pt>
                <c:pt idx="23">
                  <c:v>96</c:v>
                </c:pt>
                <c:pt idx="24">
                  <c:v>97</c:v>
                </c:pt>
                <c:pt idx="25">
                  <c:v>97</c:v>
                </c:pt>
                <c:pt idx="26">
                  <c:v>97</c:v>
                </c:pt>
                <c:pt idx="27">
                  <c:v>97</c:v>
                </c:pt>
                <c:pt idx="28">
                  <c:v>97</c:v>
                </c:pt>
                <c:pt idx="29">
                  <c:v>97</c:v>
                </c:pt>
              </c:numCache>
            </c:numRef>
          </c:val>
          <c:smooth val="0"/>
          <c:extLst>
            <c:ext xmlns:c16="http://schemas.microsoft.com/office/drawing/2014/chart" uri="{C3380CC4-5D6E-409C-BE32-E72D297353CC}">
              <c16:uniqueId val="{00000001-9875-4771-9563-DCA4AFC11CDF}"/>
            </c:ext>
          </c:extLst>
        </c:ser>
        <c:dLbls>
          <c:showLegendKey val="0"/>
          <c:showVal val="0"/>
          <c:showCatName val="0"/>
          <c:showSerName val="0"/>
          <c:showPercent val="0"/>
          <c:showBubbleSize val="0"/>
        </c:dLbls>
        <c:smooth val="0"/>
        <c:axId val="1200887247"/>
        <c:axId val="1200883407"/>
      </c:lineChart>
      <c:catAx>
        <c:axId val="120088724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Time (s)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0883407"/>
        <c:crosses val="autoZero"/>
        <c:auto val="1"/>
        <c:lblAlgn val="ctr"/>
        <c:lblOffset val="100"/>
        <c:noMultiLvlLbl val="0"/>
      </c:catAx>
      <c:valAx>
        <c:axId val="1200883407"/>
        <c:scaling>
          <c:orientation val="minMax"/>
          <c:max val="100"/>
          <c:min val="9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Oxygen Saturation</a:t>
                </a:r>
                <a:r>
                  <a:rPr lang="en-US" baseline="0" dirty="0"/>
                  <a:t> (%)</a:t>
                </a:r>
                <a:endParaRPr lang="en-US"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08872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Hear</a:t>
            </a:r>
            <a:r>
              <a:rPr lang="en-US" baseline="0" dirty="0"/>
              <a:t>t Rate Results </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v>Pulse Oximeter</c:v>
          </c:tx>
          <c:spPr>
            <a:ln w="28575" cap="rnd">
              <a:solidFill>
                <a:schemeClr val="accent2"/>
              </a:solidFill>
              <a:round/>
            </a:ln>
            <a:effectLst/>
          </c:spPr>
          <c:marker>
            <c:symbol val="none"/>
          </c:marker>
          <c:val>
            <c:numRef>
              <c:f>Sheet1!$B$1:$AE$1</c:f>
              <c:numCache>
                <c:formatCode>General</c:formatCode>
                <c:ptCount val="30"/>
                <c:pt idx="0">
                  <c:v>79</c:v>
                </c:pt>
                <c:pt idx="1">
                  <c:v>79</c:v>
                </c:pt>
                <c:pt idx="2">
                  <c:v>79</c:v>
                </c:pt>
                <c:pt idx="3">
                  <c:v>76</c:v>
                </c:pt>
                <c:pt idx="4">
                  <c:v>76</c:v>
                </c:pt>
                <c:pt idx="5">
                  <c:v>57</c:v>
                </c:pt>
                <c:pt idx="6">
                  <c:v>56</c:v>
                </c:pt>
                <c:pt idx="7">
                  <c:v>56</c:v>
                </c:pt>
                <c:pt idx="8">
                  <c:v>56</c:v>
                </c:pt>
                <c:pt idx="9">
                  <c:v>55</c:v>
                </c:pt>
                <c:pt idx="10">
                  <c:v>55</c:v>
                </c:pt>
                <c:pt idx="11">
                  <c:v>54</c:v>
                </c:pt>
                <c:pt idx="12">
                  <c:v>54</c:v>
                </c:pt>
                <c:pt idx="13">
                  <c:v>54</c:v>
                </c:pt>
                <c:pt idx="14">
                  <c:v>53</c:v>
                </c:pt>
                <c:pt idx="15">
                  <c:v>53</c:v>
                </c:pt>
                <c:pt idx="16">
                  <c:v>52</c:v>
                </c:pt>
                <c:pt idx="17">
                  <c:v>52</c:v>
                </c:pt>
                <c:pt idx="18">
                  <c:v>52</c:v>
                </c:pt>
                <c:pt idx="19">
                  <c:v>51</c:v>
                </c:pt>
                <c:pt idx="20">
                  <c:v>51</c:v>
                </c:pt>
                <c:pt idx="21">
                  <c:v>51</c:v>
                </c:pt>
                <c:pt idx="22">
                  <c:v>52</c:v>
                </c:pt>
                <c:pt idx="23">
                  <c:v>52</c:v>
                </c:pt>
                <c:pt idx="24">
                  <c:v>52</c:v>
                </c:pt>
                <c:pt idx="25">
                  <c:v>53</c:v>
                </c:pt>
                <c:pt idx="26">
                  <c:v>53</c:v>
                </c:pt>
                <c:pt idx="27">
                  <c:v>54</c:v>
                </c:pt>
                <c:pt idx="28">
                  <c:v>56</c:v>
                </c:pt>
                <c:pt idx="29">
                  <c:v>57</c:v>
                </c:pt>
              </c:numCache>
            </c:numRef>
          </c:val>
          <c:smooth val="0"/>
          <c:extLst>
            <c:ext xmlns:c16="http://schemas.microsoft.com/office/drawing/2014/chart" uri="{C3380CC4-5D6E-409C-BE32-E72D297353CC}">
              <c16:uniqueId val="{00000000-F6EF-419A-B463-C0E43B57F6E1}"/>
            </c:ext>
          </c:extLst>
        </c:ser>
        <c:ser>
          <c:idx val="1"/>
          <c:order val="1"/>
          <c:tx>
            <c:v>SynkLinx</c:v>
          </c:tx>
          <c:spPr>
            <a:ln w="28575" cap="rnd">
              <a:solidFill>
                <a:schemeClr val="accent4"/>
              </a:solidFill>
              <a:round/>
            </a:ln>
            <a:effectLst/>
          </c:spPr>
          <c:marker>
            <c:symbol val="none"/>
          </c:marker>
          <c:val>
            <c:numRef>
              <c:f>Sheet1!$B$11:$AE$11</c:f>
              <c:numCache>
                <c:formatCode>General</c:formatCode>
                <c:ptCount val="30"/>
                <c:pt idx="0">
                  <c:v>51</c:v>
                </c:pt>
                <c:pt idx="1">
                  <c:v>51</c:v>
                </c:pt>
                <c:pt idx="2">
                  <c:v>62</c:v>
                </c:pt>
                <c:pt idx="3">
                  <c:v>62</c:v>
                </c:pt>
                <c:pt idx="4">
                  <c:v>62</c:v>
                </c:pt>
                <c:pt idx="5">
                  <c:v>62</c:v>
                </c:pt>
                <c:pt idx="6">
                  <c:v>62</c:v>
                </c:pt>
                <c:pt idx="7">
                  <c:v>62</c:v>
                </c:pt>
                <c:pt idx="8">
                  <c:v>62</c:v>
                </c:pt>
                <c:pt idx="9">
                  <c:v>62</c:v>
                </c:pt>
                <c:pt idx="10">
                  <c:v>64</c:v>
                </c:pt>
                <c:pt idx="11">
                  <c:v>64</c:v>
                </c:pt>
                <c:pt idx="12">
                  <c:v>62</c:v>
                </c:pt>
                <c:pt idx="13">
                  <c:v>62</c:v>
                </c:pt>
                <c:pt idx="14">
                  <c:v>62</c:v>
                </c:pt>
                <c:pt idx="15">
                  <c:v>62</c:v>
                </c:pt>
                <c:pt idx="16">
                  <c:v>62</c:v>
                </c:pt>
                <c:pt idx="17">
                  <c:v>62</c:v>
                </c:pt>
                <c:pt idx="18">
                  <c:v>62</c:v>
                </c:pt>
                <c:pt idx="19">
                  <c:v>62</c:v>
                </c:pt>
                <c:pt idx="20">
                  <c:v>62</c:v>
                </c:pt>
                <c:pt idx="21">
                  <c:v>62</c:v>
                </c:pt>
                <c:pt idx="22">
                  <c:v>62</c:v>
                </c:pt>
                <c:pt idx="23">
                  <c:v>62</c:v>
                </c:pt>
                <c:pt idx="24">
                  <c:v>62</c:v>
                </c:pt>
                <c:pt idx="25">
                  <c:v>62</c:v>
                </c:pt>
                <c:pt idx="26">
                  <c:v>62</c:v>
                </c:pt>
                <c:pt idx="27">
                  <c:v>62</c:v>
                </c:pt>
                <c:pt idx="28">
                  <c:v>62</c:v>
                </c:pt>
                <c:pt idx="29">
                  <c:v>62</c:v>
                </c:pt>
              </c:numCache>
            </c:numRef>
          </c:val>
          <c:smooth val="0"/>
          <c:extLst>
            <c:ext xmlns:c16="http://schemas.microsoft.com/office/drawing/2014/chart" uri="{C3380CC4-5D6E-409C-BE32-E72D297353CC}">
              <c16:uniqueId val="{00000001-F6EF-419A-B463-C0E43B57F6E1}"/>
            </c:ext>
          </c:extLst>
        </c:ser>
        <c:dLbls>
          <c:showLegendKey val="0"/>
          <c:showVal val="0"/>
          <c:showCatName val="0"/>
          <c:showSerName val="0"/>
          <c:showPercent val="0"/>
          <c:showBubbleSize val="0"/>
        </c:dLbls>
        <c:smooth val="0"/>
        <c:axId val="1480240751"/>
        <c:axId val="1480241231"/>
      </c:lineChart>
      <c:catAx>
        <c:axId val="148024075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Time</a:t>
                </a:r>
                <a:r>
                  <a:rPr lang="en-US" baseline="0" dirty="0"/>
                  <a:t> (s)</a:t>
                </a:r>
                <a:endParaRPr lang="en-US" dirty="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80241231"/>
        <c:crosses val="autoZero"/>
        <c:auto val="1"/>
        <c:lblAlgn val="ctr"/>
        <c:lblOffset val="100"/>
        <c:noMultiLvlLbl val="0"/>
      </c:catAx>
      <c:valAx>
        <c:axId val="1480241231"/>
        <c:scaling>
          <c:orientation val="minMax"/>
          <c:max val="100"/>
        </c:scaling>
        <c:delete val="0"/>
        <c:axPos val="l"/>
        <c:majorGridlines>
          <c:spPr>
            <a:ln w="9525" cap="flat" cmpd="sng" algn="ctr">
              <a:solidFill>
                <a:schemeClr val="tx1"/>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Beats</a:t>
                </a:r>
                <a:r>
                  <a:rPr lang="en-US" baseline="0" dirty="0"/>
                  <a:t> per Minute (bpm)</a:t>
                </a:r>
                <a:endParaRPr lang="en-US"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802407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Core Temperature</a:t>
            </a:r>
            <a:r>
              <a:rPr lang="en-US" baseline="0" dirty="0"/>
              <a:t> Results</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v>Thermometer</c:v>
          </c:tx>
          <c:spPr>
            <a:ln w="28575" cap="rnd">
              <a:solidFill>
                <a:schemeClr val="accent2"/>
              </a:solidFill>
              <a:round/>
            </a:ln>
            <a:effectLst/>
          </c:spPr>
          <c:marker>
            <c:symbol val="none"/>
          </c:marker>
          <c:val>
            <c:numRef>
              <c:f>Sheet1!$B$4:$AE$4</c:f>
              <c:numCache>
                <c:formatCode>0.0</c:formatCode>
                <c:ptCount val="30"/>
                <c:pt idx="0">
                  <c:v>38</c:v>
                </c:pt>
                <c:pt idx="1">
                  <c:v>38</c:v>
                </c:pt>
                <c:pt idx="2">
                  <c:v>37.944444444444443</c:v>
                </c:pt>
                <c:pt idx="3">
                  <c:v>37.944444444444443</c:v>
                </c:pt>
                <c:pt idx="4">
                  <c:v>37.944444444444443</c:v>
                </c:pt>
                <c:pt idx="5">
                  <c:v>37.944444444444443</c:v>
                </c:pt>
                <c:pt idx="6">
                  <c:v>37.833333333333329</c:v>
                </c:pt>
                <c:pt idx="7">
                  <c:v>37.833333333333329</c:v>
                </c:pt>
                <c:pt idx="8">
                  <c:v>37.111111111111107</c:v>
                </c:pt>
                <c:pt idx="9">
                  <c:v>37.111111111111107</c:v>
                </c:pt>
                <c:pt idx="10">
                  <c:v>37.277777777777771</c:v>
                </c:pt>
                <c:pt idx="11">
                  <c:v>37.277777777777771</c:v>
                </c:pt>
                <c:pt idx="12">
                  <c:v>37.277777777777771</c:v>
                </c:pt>
                <c:pt idx="13">
                  <c:v>37.277777777777771</c:v>
                </c:pt>
                <c:pt idx="14">
                  <c:v>37.277777777777771</c:v>
                </c:pt>
                <c:pt idx="15">
                  <c:v>37.277777777777771</c:v>
                </c:pt>
                <c:pt idx="16">
                  <c:v>37.277777777777771</c:v>
                </c:pt>
                <c:pt idx="17">
                  <c:v>37.277777777777771</c:v>
                </c:pt>
                <c:pt idx="18">
                  <c:v>37.277777777777771</c:v>
                </c:pt>
                <c:pt idx="19">
                  <c:v>37.277777777777771</c:v>
                </c:pt>
                <c:pt idx="20">
                  <c:v>37.222222222222221</c:v>
                </c:pt>
                <c:pt idx="21">
                  <c:v>37.222222222222221</c:v>
                </c:pt>
                <c:pt idx="22">
                  <c:v>37.166666666666671</c:v>
                </c:pt>
                <c:pt idx="23">
                  <c:v>37.166666666666671</c:v>
                </c:pt>
                <c:pt idx="24">
                  <c:v>37.166666666666671</c:v>
                </c:pt>
                <c:pt idx="25">
                  <c:v>37.166666666666671</c:v>
                </c:pt>
                <c:pt idx="26">
                  <c:v>37.111111111111107</c:v>
                </c:pt>
                <c:pt idx="27">
                  <c:v>37.111111111111107</c:v>
                </c:pt>
                <c:pt idx="28">
                  <c:v>37.111111111111107</c:v>
                </c:pt>
                <c:pt idx="29">
                  <c:v>37.111111111111107</c:v>
                </c:pt>
              </c:numCache>
            </c:numRef>
          </c:val>
          <c:smooth val="0"/>
          <c:extLst>
            <c:ext xmlns:c16="http://schemas.microsoft.com/office/drawing/2014/chart" uri="{C3380CC4-5D6E-409C-BE32-E72D297353CC}">
              <c16:uniqueId val="{00000000-FFD7-49F2-9746-F2E499258352}"/>
            </c:ext>
          </c:extLst>
        </c:ser>
        <c:ser>
          <c:idx val="1"/>
          <c:order val="1"/>
          <c:tx>
            <c:v>SynkLinx</c:v>
          </c:tx>
          <c:spPr>
            <a:ln w="28575" cap="rnd">
              <a:solidFill>
                <a:schemeClr val="accent4"/>
              </a:solidFill>
              <a:round/>
            </a:ln>
            <a:effectLst/>
          </c:spPr>
          <c:marker>
            <c:symbol val="none"/>
          </c:marker>
          <c:val>
            <c:numRef>
              <c:f>Sheet1!$B$14:$AE$14</c:f>
              <c:numCache>
                <c:formatCode>General</c:formatCode>
                <c:ptCount val="30"/>
                <c:pt idx="0">
                  <c:v>36.1</c:v>
                </c:pt>
                <c:pt idx="1">
                  <c:v>36.1</c:v>
                </c:pt>
                <c:pt idx="2">
                  <c:v>36.1</c:v>
                </c:pt>
                <c:pt idx="3">
                  <c:v>36</c:v>
                </c:pt>
                <c:pt idx="4">
                  <c:v>35.9</c:v>
                </c:pt>
                <c:pt idx="5">
                  <c:v>36</c:v>
                </c:pt>
                <c:pt idx="6">
                  <c:v>36.1</c:v>
                </c:pt>
                <c:pt idx="7">
                  <c:v>36.200000000000003</c:v>
                </c:pt>
                <c:pt idx="8">
                  <c:v>36.299999999999997</c:v>
                </c:pt>
                <c:pt idx="9">
                  <c:v>36.299999999999997</c:v>
                </c:pt>
                <c:pt idx="10">
                  <c:v>36.299999999999997</c:v>
                </c:pt>
                <c:pt idx="11">
                  <c:v>36.299999999999997</c:v>
                </c:pt>
                <c:pt idx="12">
                  <c:v>36.299999999999997</c:v>
                </c:pt>
                <c:pt idx="13">
                  <c:v>36.299999999999997</c:v>
                </c:pt>
                <c:pt idx="14">
                  <c:v>36.299999999999997</c:v>
                </c:pt>
                <c:pt idx="15">
                  <c:v>36.4</c:v>
                </c:pt>
                <c:pt idx="16">
                  <c:v>36.299999999999997</c:v>
                </c:pt>
                <c:pt idx="17">
                  <c:v>36.299999999999997</c:v>
                </c:pt>
                <c:pt idx="18">
                  <c:v>36.299999999999997</c:v>
                </c:pt>
                <c:pt idx="19">
                  <c:v>36.299999999999997</c:v>
                </c:pt>
                <c:pt idx="20">
                  <c:v>36.299999999999997</c:v>
                </c:pt>
                <c:pt idx="21">
                  <c:v>36.299999999999997</c:v>
                </c:pt>
                <c:pt idx="22">
                  <c:v>36.4</c:v>
                </c:pt>
                <c:pt idx="23">
                  <c:v>36.299999999999997</c:v>
                </c:pt>
                <c:pt idx="24">
                  <c:v>36.299999999999997</c:v>
                </c:pt>
                <c:pt idx="25">
                  <c:v>36.200000000000003</c:v>
                </c:pt>
                <c:pt idx="26">
                  <c:v>36.1</c:v>
                </c:pt>
                <c:pt idx="27">
                  <c:v>36.200000000000003</c:v>
                </c:pt>
                <c:pt idx="28">
                  <c:v>36.299999999999997</c:v>
                </c:pt>
                <c:pt idx="29">
                  <c:v>36.4</c:v>
                </c:pt>
              </c:numCache>
            </c:numRef>
          </c:val>
          <c:smooth val="0"/>
          <c:extLst>
            <c:ext xmlns:c16="http://schemas.microsoft.com/office/drawing/2014/chart" uri="{C3380CC4-5D6E-409C-BE32-E72D297353CC}">
              <c16:uniqueId val="{00000001-FFD7-49F2-9746-F2E499258352}"/>
            </c:ext>
          </c:extLst>
        </c:ser>
        <c:dLbls>
          <c:showLegendKey val="0"/>
          <c:showVal val="0"/>
          <c:showCatName val="0"/>
          <c:showSerName val="0"/>
          <c:showPercent val="0"/>
          <c:showBubbleSize val="0"/>
        </c:dLbls>
        <c:smooth val="0"/>
        <c:axId val="1200868047"/>
        <c:axId val="1200854607"/>
      </c:lineChart>
      <c:catAx>
        <c:axId val="120086804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Time (s)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0854607"/>
        <c:crosses val="autoZero"/>
        <c:auto val="1"/>
        <c:lblAlgn val="ctr"/>
        <c:lblOffset val="100"/>
        <c:noMultiLvlLbl val="0"/>
      </c:catAx>
      <c:valAx>
        <c:axId val="1200854607"/>
        <c:scaling>
          <c:orientation val="minMax"/>
          <c:max val="40"/>
          <c:min val="34"/>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Temperature</a:t>
                </a:r>
                <a:r>
                  <a:rPr lang="en-US" baseline="0" dirty="0"/>
                  <a:t> (Celsius)</a:t>
                </a:r>
                <a:endParaRPr lang="en-US" dirty="0"/>
              </a:p>
            </c:rich>
          </c:tx>
          <c:layout>
            <c:manualLayout>
              <c:xMode val="edge"/>
              <c:yMode val="edge"/>
              <c:x val="2.7777777777777776E-2"/>
              <c:y val="0.24327901720618256"/>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0868047"/>
        <c:crosses val="autoZero"/>
        <c:crossBetween val="between"/>
        <c:majorUnit val="1"/>
        <c:minorUnit val="0.5"/>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1" y="0"/>
            <a:ext cx="400293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44" tIns="46420" rIns="92844" bIns="46420" numCol="1" anchor="t" anchorCtr="0" compatLnSpc="1">
            <a:prstTxWarp prst="textNoShape">
              <a:avLst/>
            </a:prstTxWarp>
          </a:bodyPr>
          <a:lstStyle>
            <a:lvl1pPr defTabSz="928827">
              <a:defRPr sz="1300" b="0">
                <a:solidFill>
                  <a:schemeClr val="tx1"/>
                </a:solidFill>
                <a:latin typeface="Times New Roman" pitchFamily="18" charset="0"/>
              </a:defRPr>
            </a:lvl1pPr>
          </a:lstStyle>
          <a:p>
            <a:pPr>
              <a:defRPr/>
            </a:pPr>
            <a:endParaRPr lang="en-US" dirty="0"/>
          </a:p>
        </p:txBody>
      </p:sp>
      <p:sp>
        <p:nvSpPr>
          <p:cNvPr id="4099" name="Rectangle 3"/>
          <p:cNvSpPr>
            <a:spLocks noGrp="1" noChangeArrowheads="1"/>
          </p:cNvSpPr>
          <p:nvPr>
            <p:ph type="dt" sz="quarter" idx="1"/>
          </p:nvPr>
        </p:nvSpPr>
        <p:spPr bwMode="auto">
          <a:xfrm>
            <a:off x="5229991" y="0"/>
            <a:ext cx="400450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44" tIns="46420" rIns="92844" bIns="46420" numCol="1" anchor="t" anchorCtr="0" compatLnSpc="1">
            <a:prstTxWarp prst="textNoShape">
              <a:avLst/>
            </a:prstTxWarp>
          </a:bodyPr>
          <a:lstStyle>
            <a:lvl1pPr algn="r" defTabSz="928827">
              <a:defRPr sz="1300" b="0">
                <a:solidFill>
                  <a:schemeClr val="tx1"/>
                </a:solidFill>
                <a:latin typeface="Times New Roman" pitchFamily="18" charset="0"/>
              </a:defRPr>
            </a:lvl1pPr>
          </a:lstStyle>
          <a:p>
            <a:pPr>
              <a:defRPr/>
            </a:pPr>
            <a:endParaRPr lang="en-US" dirty="0"/>
          </a:p>
        </p:txBody>
      </p:sp>
      <p:sp>
        <p:nvSpPr>
          <p:cNvPr id="4100" name="Rectangle 4"/>
          <p:cNvSpPr>
            <a:spLocks noGrp="1" noChangeArrowheads="1"/>
          </p:cNvSpPr>
          <p:nvPr>
            <p:ph type="ftr" sz="quarter" idx="2"/>
          </p:nvPr>
        </p:nvSpPr>
        <p:spPr bwMode="auto">
          <a:xfrm>
            <a:off x="1" y="6659563"/>
            <a:ext cx="400293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44" tIns="46420" rIns="92844" bIns="46420" numCol="1" anchor="b" anchorCtr="0" compatLnSpc="1">
            <a:prstTxWarp prst="textNoShape">
              <a:avLst/>
            </a:prstTxWarp>
          </a:bodyPr>
          <a:lstStyle>
            <a:lvl1pPr defTabSz="928827">
              <a:defRPr sz="1300" b="0">
                <a:solidFill>
                  <a:schemeClr val="tx1"/>
                </a:solidFill>
                <a:latin typeface="Times New Roman" pitchFamily="18" charset="0"/>
              </a:defRPr>
            </a:lvl1pPr>
          </a:lstStyle>
          <a:p>
            <a:pPr>
              <a:defRPr/>
            </a:pPr>
            <a:endParaRPr lang="en-US" dirty="0"/>
          </a:p>
        </p:txBody>
      </p:sp>
      <p:sp>
        <p:nvSpPr>
          <p:cNvPr id="4101" name="Rectangle 5"/>
          <p:cNvSpPr>
            <a:spLocks noGrp="1" noChangeArrowheads="1"/>
          </p:cNvSpPr>
          <p:nvPr>
            <p:ph type="sldNum" sz="quarter" idx="3"/>
          </p:nvPr>
        </p:nvSpPr>
        <p:spPr bwMode="auto">
          <a:xfrm>
            <a:off x="5229991" y="6659563"/>
            <a:ext cx="400450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44" tIns="46420" rIns="92844" bIns="46420" numCol="1" anchor="b" anchorCtr="0" compatLnSpc="1">
            <a:prstTxWarp prst="textNoShape">
              <a:avLst/>
            </a:prstTxWarp>
          </a:bodyPr>
          <a:lstStyle>
            <a:lvl1pPr algn="r" defTabSz="928827">
              <a:defRPr sz="1300" b="0">
                <a:solidFill>
                  <a:schemeClr val="tx1"/>
                </a:solidFill>
                <a:latin typeface="Times New Roman" pitchFamily="18" charset="0"/>
              </a:defRPr>
            </a:lvl1pPr>
          </a:lstStyle>
          <a:p>
            <a:pPr>
              <a:defRPr/>
            </a:pPr>
            <a:fld id="{81B9E68F-7470-44DD-A6BD-877F94445319}" type="slidenum">
              <a:rPr lang="en-US"/>
              <a:pPr>
                <a:defRPr/>
              </a:pPr>
              <a:t>‹#›</a:t>
            </a:fld>
            <a:endParaRPr lang="en-US" dirty="0"/>
          </a:p>
        </p:txBody>
      </p:sp>
    </p:spTree>
    <p:extLst>
      <p:ext uri="{BB962C8B-B14F-4D97-AF65-F5344CB8AC3E}">
        <p14:creationId xmlns:p14="http://schemas.microsoft.com/office/powerpoint/2010/main" val="38595612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1" y="0"/>
            <a:ext cx="400293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44" tIns="46420" rIns="92844" bIns="46420" numCol="1" anchor="t" anchorCtr="0" compatLnSpc="1">
            <a:prstTxWarp prst="textNoShape">
              <a:avLst/>
            </a:prstTxWarp>
          </a:bodyPr>
          <a:lstStyle>
            <a:lvl1pPr defTabSz="928827">
              <a:defRPr sz="1300" b="0">
                <a:solidFill>
                  <a:schemeClr val="tx1"/>
                </a:solidFill>
                <a:latin typeface="Times New Roman" pitchFamily="18" charset="0"/>
              </a:defRPr>
            </a:lvl1pPr>
          </a:lstStyle>
          <a:p>
            <a:pPr>
              <a:defRPr/>
            </a:pPr>
            <a:endParaRPr lang="en-US" dirty="0"/>
          </a:p>
        </p:txBody>
      </p:sp>
      <p:sp>
        <p:nvSpPr>
          <p:cNvPr id="3075" name="Rectangle 3"/>
          <p:cNvSpPr>
            <a:spLocks noGrp="1" noChangeArrowheads="1"/>
          </p:cNvSpPr>
          <p:nvPr>
            <p:ph type="dt" idx="1"/>
          </p:nvPr>
        </p:nvSpPr>
        <p:spPr bwMode="auto">
          <a:xfrm>
            <a:off x="5229991" y="0"/>
            <a:ext cx="400450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44" tIns="46420" rIns="92844" bIns="46420" numCol="1" anchor="t" anchorCtr="0" compatLnSpc="1">
            <a:prstTxWarp prst="textNoShape">
              <a:avLst/>
            </a:prstTxWarp>
          </a:bodyPr>
          <a:lstStyle>
            <a:lvl1pPr algn="r" defTabSz="928827">
              <a:defRPr sz="1300" b="0">
                <a:solidFill>
                  <a:schemeClr val="tx1"/>
                </a:solidFill>
                <a:latin typeface="Times New Roman" pitchFamily="18" charset="0"/>
              </a:defRPr>
            </a:lvl1pPr>
          </a:lstStyle>
          <a:p>
            <a:pPr>
              <a:defRPr/>
            </a:pPr>
            <a:endParaRPr lang="en-US" dirty="0"/>
          </a:p>
        </p:txBody>
      </p:sp>
      <p:sp>
        <p:nvSpPr>
          <p:cNvPr id="3076" name="Rectangle 4"/>
          <p:cNvSpPr>
            <a:spLocks noGrp="1" noRot="1" noChangeAspect="1" noChangeArrowheads="1" noTextEdit="1"/>
          </p:cNvSpPr>
          <p:nvPr>
            <p:ph type="sldImg" idx="2"/>
          </p:nvPr>
        </p:nvSpPr>
        <p:spPr bwMode="auto">
          <a:xfrm>
            <a:off x="2778125" y="527050"/>
            <a:ext cx="3679825" cy="26289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txBody>
          <a:bodyPr/>
          <a:lstStyle/>
          <a:p>
            <a:endParaRPr lang="en-US" dirty="0"/>
          </a:p>
        </p:txBody>
      </p:sp>
      <p:sp>
        <p:nvSpPr>
          <p:cNvPr id="3077" name="Rectangle 5"/>
          <p:cNvSpPr>
            <a:spLocks noGrp="1" noChangeArrowheads="1"/>
          </p:cNvSpPr>
          <p:nvPr>
            <p:ph type="body" sz="quarter" idx="3"/>
          </p:nvPr>
        </p:nvSpPr>
        <p:spPr bwMode="auto">
          <a:xfrm>
            <a:off x="924238" y="3330576"/>
            <a:ext cx="7389176" cy="315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44" tIns="46420" rIns="92844" bIns="464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1" y="6659563"/>
            <a:ext cx="400293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44" tIns="46420" rIns="92844" bIns="46420" numCol="1" anchor="b" anchorCtr="0" compatLnSpc="1">
            <a:prstTxWarp prst="textNoShape">
              <a:avLst/>
            </a:prstTxWarp>
          </a:bodyPr>
          <a:lstStyle>
            <a:lvl1pPr defTabSz="928827">
              <a:defRPr sz="1300" b="0">
                <a:solidFill>
                  <a:schemeClr val="tx1"/>
                </a:solidFill>
                <a:latin typeface="Times New Roman" pitchFamily="18" charset="0"/>
              </a:defRPr>
            </a:lvl1pPr>
          </a:lstStyle>
          <a:p>
            <a:pPr>
              <a:defRPr/>
            </a:pPr>
            <a:endParaRPr lang="en-US" dirty="0"/>
          </a:p>
        </p:txBody>
      </p:sp>
      <p:sp>
        <p:nvSpPr>
          <p:cNvPr id="3079" name="Rectangle 7"/>
          <p:cNvSpPr>
            <a:spLocks noGrp="1" noChangeArrowheads="1"/>
          </p:cNvSpPr>
          <p:nvPr>
            <p:ph type="sldNum" sz="quarter" idx="5"/>
          </p:nvPr>
        </p:nvSpPr>
        <p:spPr bwMode="auto">
          <a:xfrm>
            <a:off x="5229991" y="6659563"/>
            <a:ext cx="400450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44" tIns="46420" rIns="92844" bIns="46420" numCol="1" anchor="b" anchorCtr="0" compatLnSpc="1">
            <a:prstTxWarp prst="textNoShape">
              <a:avLst/>
            </a:prstTxWarp>
          </a:bodyPr>
          <a:lstStyle>
            <a:lvl1pPr algn="r" defTabSz="928827">
              <a:defRPr sz="1300" b="0">
                <a:solidFill>
                  <a:schemeClr val="tx1"/>
                </a:solidFill>
                <a:latin typeface="Times New Roman" pitchFamily="18" charset="0"/>
              </a:defRPr>
            </a:lvl1pPr>
          </a:lstStyle>
          <a:p>
            <a:pPr>
              <a:defRPr/>
            </a:pPr>
            <a:fld id="{ABD54733-4FD4-481A-A268-1474FDD98B07}" type="slidenum">
              <a:rPr lang="en-US"/>
              <a:pPr>
                <a:defRPr/>
              </a:pPr>
              <a:t>‹#›</a:t>
            </a:fld>
            <a:endParaRPr lang="en-US" dirty="0"/>
          </a:p>
        </p:txBody>
      </p:sp>
    </p:spTree>
    <p:extLst>
      <p:ext uri="{BB962C8B-B14F-4D97-AF65-F5344CB8AC3E}">
        <p14:creationId xmlns:p14="http://schemas.microsoft.com/office/powerpoint/2010/main" val="42922298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8521899"/>
            <a:ext cx="32644080" cy="5880200"/>
          </a:xfrm>
        </p:spPr>
        <p:txBody>
          <a:bodyPr/>
          <a:lstStyle/>
          <a:p>
            <a:r>
              <a:rPr lang="en-US"/>
              <a:t>Click to edit Master title style</a:t>
            </a:r>
          </a:p>
        </p:txBody>
      </p:sp>
      <p:sp>
        <p:nvSpPr>
          <p:cNvPr id="3" name="Subtitle 2"/>
          <p:cNvSpPr>
            <a:spLocks noGrp="1"/>
          </p:cNvSpPr>
          <p:nvPr>
            <p:ph type="subTitle" idx="1"/>
          </p:nvPr>
        </p:nvSpPr>
        <p:spPr>
          <a:xfrm>
            <a:off x="5760720" y="15545098"/>
            <a:ext cx="26883360" cy="700980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EE85CD06-5FCF-497C-9ADE-CBF2B30376C2}" type="slidenum">
              <a:rPr lang="en-US"/>
              <a:pPr>
                <a:defRPr/>
              </a:pPr>
              <a:t>‹#›</a:t>
            </a:fld>
            <a:endParaRPr lang="en-US" dirty="0"/>
          </a:p>
        </p:txBody>
      </p:sp>
    </p:spTree>
    <p:extLst>
      <p:ext uri="{BB962C8B-B14F-4D97-AF65-F5344CB8AC3E}">
        <p14:creationId xmlns:p14="http://schemas.microsoft.com/office/powerpoint/2010/main" val="2815741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81D6B67D-0127-4909-9418-9A3EB41A3330}" type="slidenum">
              <a:rPr lang="en-US"/>
              <a:pPr>
                <a:defRPr/>
              </a:pPr>
              <a:t>‹#›</a:t>
            </a:fld>
            <a:endParaRPr lang="en-US" dirty="0"/>
          </a:p>
        </p:txBody>
      </p:sp>
    </p:spTree>
    <p:extLst>
      <p:ext uri="{BB962C8B-B14F-4D97-AF65-F5344CB8AC3E}">
        <p14:creationId xmlns:p14="http://schemas.microsoft.com/office/powerpoint/2010/main" val="703796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033713" y="17627203"/>
            <a:ext cx="32644080" cy="5448598"/>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033713" y="11626453"/>
            <a:ext cx="32644080" cy="60007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81F9BC7F-8415-4687-9AD9-5D99DEAFF598}" type="slidenum">
              <a:rPr lang="en-US"/>
              <a:pPr>
                <a:defRPr/>
              </a:pPr>
              <a:t>‹#›</a:t>
            </a:fld>
            <a:endParaRPr lang="en-US" dirty="0"/>
          </a:p>
        </p:txBody>
      </p:sp>
    </p:spTree>
    <p:extLst>
      <p:ext uri="{BB962C8B-B14F-4D97-AF65-F5344CB8AC3E}">
        <p14:creationId xmlns:p14="http://schemas.microsoft.com/office/powerpoint/2010/main" val="2003658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888695" y="7905750"/>
            <a:ext cx="16233695" cy="164782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9282410" y="7905750"/>
            <a:ext cx="16235363" cy="164782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8893334F-7BCC-4AF5-9EDD-07EC1FE9B730}" type="slidenum">
              <a:rPr lang="en-US"/>
              <a:pPr>
                <a:defRPr/>
              </a:pPr>
              <a:t>‹#›</a:t>
            </a:fld>
            <a:endParaRPr lang="en-US" dirty="0"/>
          </a:p>
        </p:txBody>
      </p:sp>
    </p:spTree>
    <p:extLst>
      <p:ext uri="{BB962C8B-B14F-4D97-AF65-F5344CB8AC3E}">
        <p14:creationId xmlns:p14="http://schemas.microsoft.com/office/powerpoint/2010/main" val="1153896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20240" y="1098352"/>
            <a:ext cx="34564320" cy="4572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920240" y="6140649"/>
            <a:ext cx="16968788" cy="255835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20240" y="8699004"/>
            <a:ext cx="16968788" cy="1580554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9509105" y="6140649"/>
            <a:ext cx="16975455" cy="255835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9509105" y="8699004"/>
            <a:ext cx="16975455" cy="1580554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dirty="0"/>
          </a:p>
        </p:txBody>
      </p:sp>
      <p:sp>
        <p:nvSpPr>
          <p:cNvPr id="8"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
          <p:cNvSpPr>
            <a:spLocks noGrp="1" noChangeArrowheads="1"/>
          </p:cNvSpPr>
          <p:nvPr>
            <p:ph type="sldNum" sz="quarter" idx="12"/>
          </p:nvPr>
        </p:nvSpPr>
        <p:spPr>
          <a:ln/>
        </p:spPr>
        <p:txBody>
          <a:bodyPr/>
          <a:lstStyle>
            <a:lvl1pPr>
              <a:defRPr/>
            </a:lvl1pPr>
          </a:lstStyle>
          <a:p>
            <a:pPr>
              <a:defRPr/>
            </a:pPr>
            <a:fld id="{42B0A510-4691-41D6-B9A9-44BA8A2430BA}" type="slidenum">
              <a:rPr lang="en-US"/>
              <a:pPr>
                <a:defRPr/>
              </a:pPr>
              <a:t>‹#›</a:t>
            </a:fld>
            <a:endParaRPr lang="en-US" dirty="0"/>
          </a:p>
        </p:txBody>
      </p:sp>
    </p:spTree>
    <p:extLst>
      <p:ext uri="{BB962C8B-B14F-4D97-AF65-F5344CB8AC3E}">
        <p14:creationId xmlns:p14="http://schemas.microsoft.com/office/powerpoint/2010/main" val="3500843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dirty="0"/>
          </a:p>
        </p:txBody>
      </p:sp>
      <p:sp>
        <p:nvSpPr>
          <p:cNvPr id="4"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
          <p:cNvSpPr>
            <a:spLocks noGrp="1" noChangeArrowheads="1"/>
          </p:cNvSpPr>
          <p:nvPr>
            <p:ph type="sldNum" sz="quarter" idx="12"/>
          </p:nvPr>
        </p:nvSpPr>
        <p:spPr>
          <a:ln/>
        </p:spPr>
        <p:txBody>
          <a:bodyPr/>
          <a:lstStyle>
            <a:lvl1pPr>
              <a:defRPr/>
            </a:lvl1pPr>
          </a:lstStyle>
          <a:p>
            <a:pPr>
              <a:defRPr/>
            </a:pPr>
            <a:fld id="{C23DFDE3-6FC6-41BB-8AA4-72C730D21BE9}" type="slidenum">
              <a:rPr lang="en-US"/>
              <a:pPr>
                <a:defRPr/>
              </a:pPr>
              <a:t>‹#›</a:t>
            </a:fld>
            <a:endParaRPr lang="en-US" dirty="0"/>
          </a:p>
        </p:txBody>
      </p:sp>
    </p:spTree>
    <p:extLst>
      <p:ext uri="{BB962C8B-B14F-4D97-AF65-F5344CB8AC3E}">
        <p14:creationId xmlns:p14="http://schemas.microsoft.com/office/powerpoint/2010/main" val="3500098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dirty="0"/>
          </a:p>
        </p:txBody>
      </p:sp>
      <p:sp>
        <p:nvSpPr>
          <p:cNvPr id="3"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
          <p:cNvSpPr>
            <a:spLocks noGrp="1" noChangeArrowheads="1"/>
          </p:cNvSpPr>
          <p:nvPr>
            <p:ph type="sldNum" sz="quarter" idx="12"/>
          </p:nvPr>
        </p:nvSpPr>
        <p:spPr>
          <a:ln/>
        </p:spPr>
        <p:txBody>
          <a:bodyPr/>
          <a:lstStyle>
            <a:lvl1pPr>
              <a:defRPr/>
            </a:lvl1pPr>
          </a:lstStyle>
          <a:p>
            <a:pPr>
              <a:defRPr/>
            </a:pPr>
            <a:fld id="{9BBDF385-441B-4B75-870B-A5B0D15AE543}" type="slidenum">
              <a:rPr lang="en-US"/>
              <a:pPr>
                <a:defRPr/>
              </a:pPr>
              <a:t>‹#›</a:t>
            </a:fld>
            <a:endParaRPr lang="en-US" dirty="0"/>
          </a:p>
        </p:txBody>
      </p:sp>
    </p:spTree>
    <p:extLst>
      <p:ext uri="{BB962C8B-B14F-4D97-AF65-F5344CB8AC3E}">
        <p14:creationId xmlns:p14="http://schemas.microsoft.com/office/powerpoint/2010/main" val="1065086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240" y="1092399"/>
            <a:ext cx="12634913" cy="4647903"/>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5015210" y="1092399"/>
            <a:ext cx="21469350" cy="2341215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920240" y="5740301"/>
            <a:ext cx="12634913" cy="18764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10B4249B-109F-45D1-B262-583AE4FD7E17}" type="slidenum">
              <a:rPr lang="en-US"/>
              <a:pPr>
                <a:defRPr/>
              </a:pPr>
              <a:t>‹#›</a:t>
            </a:fld>
            <a:endParaRPr lang="en-US" dirty="0"/>
          </a:p>
        </p:txBody>
      </p:sp>
    </p:spTree>
    <p:extLst>
      <p:ext uri="{BB962C8B-B14F-4D97-AF65-F5344CB8AC3E}">
        <p14:creationId xmlns:p14="http://schemas.microsoft.com/office/powerpoint/2010/main" val="895398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27608" y="19201805"/>
            <a:ext cx="23042880" cy="2268141"/>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7527608" y="2451200"/>
            <a:ext cx="23042880" cy="1645890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7527608" y="21469946"/>
            <a:ext cx="23042880" cy="321915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519FBC1F-311D-4B90-B736-47F6C7F167D4}" type="slidenum">
              <a:rPr lang="en-US"/>
              <a:pPr>
                <a:defRPr/>
              </a:pPr>
              <a:t>‹#›</a:t>
            </a:fld>
            <a:endParaRPr lang="en-US" dirty="0"/>
          </a:p>
        </p:txBody>
      </p:sp>
    </p:spTree>
    <p:extLst>
      <p:ext uri="{BB962C8B-B14F-4D97-AF65-F5344CB8AC3E}">
        <p14:creationId xmlns:p14="http://schemas.microsoft.com/office/powerpoint/2010/main" val="1219033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F2C7ADD0-8157-4FCC-A497-95E5D9F6C5FC}" type="slidenum">
              <a:rPr lang="en-US"/>
              <a:pPr>
                <a:defRPr/>
              </a:pPr>
              <a:t>‹#›</a:t>
            </a:fld>
            <a:endParaRPr lang="en-US" dirty="0"/>
          </a:p>
        </p:txBody>
      </p:sp>
    </p:spTree>
    <p:extLst>
      <p:ext uri="{BB962C8B-B14F-4D97-AF65-F5344CB8AC3E}">
        <p14:creationId xmlns:p14="http://schemas.microsoft.com/office/powerpoint/2010/main" val="3496535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361754" y="2439294"/>
            <a:ext cx="8156019" cy="2194470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888695" y="2439294"/>
            <a:ext cx="24313039" cy="219447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84D9D427-F906-4AA5-9A7E-01EE0CCA6453}" type="slidenum">
              <a:rPr lang="en-US"/>
              <a:pPr>
                <a:defRPr/>
              </a:pPr>
              <a:t>‹#›</a:t>
            </a:fld>
            <a:endParaRPr lang="en-US" dirty="0"/>
          </a:p>
        </p:txBody>
      </p:sp>
    </p:spTree>
    <p:extLst>
      <p:ext uri="{BB962C8B-B14F-4D97-AF65-F5344CB8AC3E}">
        <p14:creationId xmlns:p14="http://schemas.microsoft.com/office/powerpoint/2010/main" val="2332822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888695" y="2439293"/>
            <a:ext cx="32629078"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4525" tIns="217265" rIns="434525" bIns="217265"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2888695" y="7905750"/>
            <a:ext cx="32629078" cy="1647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4525" tIns="217265" rIns="434525" bIns="21726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2888695" y="25013543"/>
            <a:ext cx="8001000" cy="180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4525" tIns="217265" rIns="434525" bIns="217265" numCol="1" anchor="t" anchorCtr="0" compatLnSpc="1">
            <a:prstTxWarp prst="textNoShape">
              <a:avLst/>
            </a:prstTxWarp>
          </a:bodyPr>
          <a:lstStyle>
            <a:lvl1pPr defTabSz="4351338">
              <a:defRPr sz="6100" b="0">
                <a:solidFill>
                  <a:schemeClr val="tx1"/>
                </a:solidFill>
                <a:latin typeface="+mn-lt"/>
              </a:defRPr>
            </a:lvl1pPr>
          </a:lstStyle>
          <a:p>
            <a:pPr>
              <a:defRPr/>
            </a:pPr>
            <a:endParaRPr lang="en-US" dirty="0"/>
          </a:p>
        </p:txBody>
      </p:sp>
      <p:sp>
        <p:nvSpPr>
          <p:cNvPr id="1029" name="Rectangle 5"/>
          <p:cNvSpPr>
            <a:spLocks noGrp="1" noChangeArrowheads="1"/>
          </p:cNvSpPr>
          <p:nvPr>
            <p:ph type="ftr" sz="quarter" idx="3"/>
          </p:nvPr>
        </p:nvSpPr>
        <p:spPr bwMode="auto">
          <a:xfrm>
            <a:off x="13114973" y="25013543"/>
            <a:ext cx="12176522" cy="180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4525" tIns="217265" rIns="434525" bIns="217265" numCol="1" anchor="t" anchorCtr="0" compatLnSpc="1">
            <a:prstTxWarp prst="textNoShape">
              <a:avLst/>
            </a:prstTxWarp>
          </a:bodyPr>
          <a:lstStyle>
            <a:lvl1pPr algn="ctr" defTabSz="4351338">
              <a:defRPr sz="6100" b="0">
                <a:solidFill>
                  <a:schemeClr val="tx1"/>
                </a:solidFill>
                <a:latin typeface="+mn-lt"/>
              </a:defRPr>
            </a:lvl1pPr>
          </a:lstStyle>
          <a:p>
            <a:pPr>
              <a:defRPr/>
            </a:pPr>
            <a:endParaRPr lang="en-US" dirty="0"/>
          </a:p>
        </p:txBody>
      </p:sp>
      <p:sp>
        <p:nvSpPr>
          <p:cNvPr id="1030" name="Rectangle 6"/>
          <p:cNvSpPr>
            <a:spLocks noGrp="1" noChangeArrowheads="1"/>
          </p:cNvSpPr>
          <p:nvPr>
            <p:ph type="sldNum" sz="quarter" idx="4"/>
          </p:nvPr>
        </p:nvSpPr>
        <p:spPr bwMode="auto">
          <a:xfrm>
            <a:off x="27516773" y="25013543"/>
            <a:ext cx="8001000" cy="180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4525" tIns="217265" rIns="434525" bIns="217265" numCol="1" anchor="t" anchorCtr="0" compatLnSpc="1">
            <a:prstTxWarp prst="textNoShape">
              <a:avLst/>
            </a:prstTxWarp>
          </a:bodyPr>
          <a:lstStyle>
            <a:lvl1pPr algn="r" defTabSz="4351338">
              <a:defRPr sz="6100" b="0">
                <a:solidFill>
                  <a:schemeClr val="tx1"/>
                </a:solidFill>
                <a:latin typeface="+mn-lt"/>
              </a:defRPr>
            </a:lvl1pPr>
          </a:lstStyle>
          <a:p>
            <a:pPr>
              <a:defRPr/>
            </a:pPr>
            <a:fld id="{911CB31F-B16C-4DE7-B707-D020364F0710}"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51338" rtl="0" eaLnBrk="0" fontAlgn="base" hangingPunct="0">
        <a:spcBef>
          <a:spcPct val="0"/>
        </a:spcBef>
        <a:spcAft>
          <a:spcPct val="0"/>
        </a:spcAft>
        <a:defRPr sz="21200">
          <a:solidFill>
            <a:schemeClr val="tx2"/>
          </a:solidFill>
          <a:latin typeface="+mj-lt"/>
          <a:ea typeface="+mj-ea"/>
          <a:cs typeface="+mj-cs"/>
        </a:defRPr>
      </a:lvl1pPr>
      <a:lvl2pPr algn="ctr" defTabSz="4351338" rtl="0" eaLnBrk="0" fontAlgn="base" hangingPunct="0">
        <a:spcBef>
          <a:spcPct val="0"/>
        </a:spcBef>
        <a:spcAft>
          <a:spcPct val="0"/>
        </a:spcAft>
        <a:defRPr sz="21200">
          <a:solidFill>
            <a:schemeClr val="tx2"/>
          </a:solidFill>
          <a:latin typeface="Times New Roman" pitchFamily="18" charset="0"/>
        </a:defRPr>
      </a:lvl2pPr>
      <a:lvl3pPr algn="ctr" defTabSz="4351338" rtl="0" eaLnBrk="0" fontAlgn="base" hangingPunct="0">
        <a:spcBef>
          <a:spcPct val="0"/>
        </a:spcBef>
        <a:spcAft>
          <a:spcPct val="0"/>
        </a:spcAft>
        <a:defRPr sz="21200">
          <a:solidFill>
            <a:schemeClr val="tx2"/>
          </a:solidFill>
          <a:latin typeface="Times New Roman" pitchFamily="18" charset="0"/>
        </a:defRPr>
      </a:lvl3pPr>
      <a:lvl4pPr algn="ctr" defTabSz="4351338" rtl="0" eaLnBrk="0" fontAlgn="base" hangingPunct="0">
        <a:spcBef>
          <a:spcPct val="0"/>
        </a:spcBef>
        <a:spcAft>
          <a:spcPct val="0"/>
        </a:spcAft>
        <a:defRPr sz="21200">
          <a:solidFill>
            <a:schemeClr val="tx2"/>
          </a:solidFill>
          <a:latin typeface="Times New Roman" pitchFamily="18" charset="0"/>
        </a:defRPr>
      </a:lvl4pPr>
      <a:lvl5pPr algn="ctr" defTabSz="4351338" rtl="0" eaLnBrk="0" fontAlgn="base" hangingPunct="0">
        <a:spcBef>
          <a:spcPct val="0"/>
        </a:spcBef>
        <a:spcAft>
          <a:spcPct val="0"/>
        </a:spcAft>
        <a:defRPr sz="21200">
          <a:solidFill>
            <a:schemeClr val="tx2"/>
          </a:solidFill>
          <a:latin typeface="Times New Roman" pitchFamily="18" charset="0"/>
        </a:defRPr>
      </a:lvl5pPr>
      <a:lvl6pPr marL="457200" algn="ctr" defTabSz="4351338" rtl="0" eaLnBrk="0" fontAlgn="base" hangingPunct="0">
        <a:spcBef>
          <a:spcPct val="0"/>
        </a:spcBef>
        <a:spcAft>
          <a:spcPct val="0"/>
        </a:spcAft>
        <a:defRPr sz="21200">
          <a:solidFill>
            <a:schemeClr val="tx2"/>
          </a:solidFill>
          <a:latin typeface="Times New Roman" pitchFamily="18" charset="0"/>
        </a:defRPr>
      </a:lvl6pPr>
      <a:lvl7pPr marL="914400" algn="ctr" defTabSz="4351338" rtl="0" eaLnBrk="0" fontAlgn="base" hangingPunct="0">
        <a:spcBef>
          <a:spcPct val="0"/>
        </a:spcBef>
        <a:spcAft>
          <a:spcPct val="0"/>
        </a:spcAft>
        <a:defRPr sz="21200">
          <a:solidFill>
            <a:schemeClr val="tx2"/>
          </a:solidFill>
          <a:latin typeface="Times New Roman" pitchFamily="18" charset="0"/>
        </a:defRPr>
      </a:lvl7pPr>
      <a:lvl8pPr marL="1371600" algn="ctr" defTabSz="4351338" rtl="0" eaLnBrk="0" fontAlgn="base" hangingPunct="0">
        <a:spcBef>
          <a:spcPct val="0"/>
        </a:spcBef>
        <a:spcAft>
          <a:spcPct val="0"/>
        </a:spcAft>
        <a:defRPr sz="21200">
          <a:solidFill>
            <a:schemeClr val="tx2"/>
          </a:solidFill>
          <a:latin typeface="Times New Roman" pitchFamily="18" charset="0"/>
        </a:defRPr>
      </a:lvl8pPr>
      <a:lvl9pPr marL="1828800" algn="ctr" defTabSz="4351338" rtl="0" eaLnBrk="0" fontAlgn="base" hangingPunct="0">
        <a:spcBef>
          <a:spcPct val="0"/>
        </a:spcBef>
        <a:spcAft>
          <a:spcPct val="0"/>
        </a:spcAft>
        <a:defRPr sz="21200">
          <a:solidFill>
            <a:schemeClr val="tx2"/>
          </a:solidFill>
          <a:latin typeface="Times New Roman" pitchFamily="18" charset="0"/>
        </a:defRPr>
      </a:lvl9pPr>
    </p:titleStyle>
    <p:bodyStyle>
      <a:lvl1pPr marL="1628775" indent="-1628775" algn="l" defTabSz="4351338" rtl="0" eaLnBrk="0" fontAlgn="base" hangingPunct="0">
        <a:spcBef>
          <a:spcPct val="20000"/>
        </a:spcBef>
        <a:spcAft>
          <a:spcPct val="0"/>
        </a:spcAft>
        <a:buChar char="•"/>
        <a:defRPr sz="14500">
          <a:solidFill>
            <a:schemeClr val="tx1"/>
          </a:solidFill>
          <a:latin typeface="+mn-lt"/>
          <a:ea typeface="+mn-ea"/>
          <a:cs typeface="+mn-cs"/>
        </a:defRPr>
      </a:lvl1pPr>
      <a:lvl2pPr marL="3533775" indent="-1362075" algn="l" defTabSz="4351338" rtl="0" eaLnBrk="0" fontAlgn="base" hangingPunct="0">
        <a:spcBef>
          <a:spcPct val="20000"/>
        </a:spcBef>
        <a:spcAft>
          <a:spcPct val="0"/>
        </a:spcAft>
        <a:buChar char="–"/>
        <a:defRPr sz="13200">
          <a:solidFill>
            <a:schemeClr val="tx1"/>
          </a:solidFill>
          <a:latin typeface="+mn-lt"/>
        </a:defRPr>
      </a:lvl2pPr>
      <a:lvl3pPr marL="5427663" indent="-1076325" algn="l" defTabSz="4351338" rtl="0" eaLnBrk="0" fontAlgn="base" hangingPunct="0">
        <a:spcBef>
          <a:spcPct val="20000"/>
        </a:spcBef>
        <a:spcAft>
          <a:spcPct val="0"/>
        </a:spcAft>
        <a:buChar char="•"/>
        <a:defRPr sz="11000">
          <a:solidFill>
            <a:schemeClr val="tx1"/>
          </a:solidFill>
          <a:latin typeface="+mn-lt"/>
        </a:defRPr>
      </a:lvl3pPr>
      <a:lvl4pPr marL="7607300" indent="-1098550" algn="l" defTabSz="4351338" rtl="0" eaLnBrk="0" fontAlgn="base" hangingPunct="0">
        <a:spcBef>
          <a:spcPct val="20000"/>
        </a:spcBef>
        <a:spcAft>
          <a:spcPct val="0"/>
        </a:spcAft>
        <a:buChar char="–"/>
        <a:defRPr sz="9300">
          <a:solidFill>
            <a:schemeClr val="tx1"/>
          </a:solidFill>
          <a:latin typeface="+mn-lt"/>
        </a:defRPr>
      </a:lvl4pPr>
      <a:lvl5pPr marL="9769475" indent="-1081088" algn="l" defTabSz="4351338" rtl="0" eaLnBrk="0" fontAlgn="base" hangingPunct="0">
        <a:spcBef>
          <a:spcPct val="20000"/>
        </a:spcBef>
        <a:spcAft>
          <a:spcPct val="0"/>
        </a:spcAft>
        <a:buChar char="»"/>
        <a:defRPr sz="9300">
          <a:solidFill>
            <a:schemeClr val="tx1"/>
          </a:solidFill>
          <a:latin typeface="+mn-lt"/>
        </a:defRPr>
      </a:lvl5pPr>
      <a:lvl6pPr marL="10226675" indent="-1081088" algn="l" defTabSz="4351338" rtl="0" eaLnBrk="0" fontAlgn="base" hangingPunct="0">
        <a:spcBef>
          <a:spcPct val="20000"/>
        </a:spcBef>
        <a:spcAft>
          <a:spcPct val="0"/>
        </a:spcAft>
        <a:buChar char="»"/>
        <a:defRPr sz="9300">
          <a:solidFill>
            <a:schemeClr val="tx1"/>
          </a:solidFill>
          <a:latin typeface="+mn-lt"/>
        </a:defRPr>
      </a:lvl6pPr>
      <a:lvl7pPr marL="10683875" indent="-1081088" algn="l" defTabSz="4351338" rtl="0" eaLnBrk="0" fontAlgn="base" hangingPunct="0">
        <a:spcBef>
          <a:spcPct val="20000"/>
        </a:spcBef>
        <a:spcAft>
          <a:spcPct val="0"/>
        </a:spcAft>
        <a:buChar char="»"/>
        <a:defRPr sz="9300">
          <a:solidFill>
            <a:schemeClr val="tx1"/>
          </a:solidFill>
          <a:latin typeface="+mn-lt"/>
        </a:defRPr>
      </a:lvl7pPr>
      <a:lvl8pPr marL="11141075" indent="-1081088" algn="l" defTabSz="4351338" rtl="0" eaLnBrk="0" fontAlgn="base" hangingPunct="0">
        <a:spcBef>
          <a:spcPct val="20000"/>
        </a:spcBef>
        <a:spcAft>
          <a:spcPct val="0"/>
        </a:spcAft>
        <a:buChar char="»"/>
        <a:defRPr sz="9300">
          <a:solidFill>
            <a:schemeClr val="tx1"/>
          </a:solidFill>
          <a:latin typeface="+mn-lt"/>
        </a:defRPr>
      </a:lvl8pPr>
      <a:lvl9pPr marL="11598275" indent="-1081088" algn="l" defTabSz="4351338" rtl="0" eaLnBrk="0" fontAlgn="base" hangingPunct="0">
        <a:spcBef>
          <a:spcPct val="20000"/>
        </a:spcBef>
        <a:spcAft>
          <a:spcPct val="0"/>
        </a:spcAft>
        <a:buChar char="»"/>
        <a:defRPr sz="93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hart" Target="../charts/chart1.xml"/><Relationship Id="rId3" Type="http://schemas.openxmlformats.org/officeDocument/2006/relationships/image" Target="../media/image2.jpeg"/><Relationship Id="rId7" Type="http://schemas.openxmlformats.org/officeDocument/2006/relationships/image" Target="../media/image6.png"/><Relationship Id="rId12" Type="http://schemas.openxmlformats.org/officeDocument/2006/relationships/image" Target="../media/image11.jpeg"/><Relationship Id="rId2" Type="http://schemas.openxmlformats.org/officeDocument/2006/relationships/image" Target="../media/image1.jpeg"/><Relationship Id="rId16"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chart" Target="../charts/chart3.xml"/><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0" name="Picture 20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27495" y="190469"/>
            <a:ext cx="24003000" cy="3534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Text Box 96"/>
          <p:cNvSpPr txBox="1">
            <a:spLocks noChangeArrowheads="1"/>
          </p:cNvSpPr>
          <p:nvPr/>
        </p:nvSpPr>
        <p:spPr bwMode="auto">
          <a:xfrm>
            <a:off x="7360920" y="3500438"/>
            <a:ext cx="24003000" cy="1384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19070" tIns="45267" rIns="419070" bIns="45267">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algn="ctr"/>
            <a:r>
              <a:rPr lang="en-US" sz="4400" dirty="0">
                <a:solidFill>
                  <a:schemeClr val="tx1"/>
                </a:solidFill>
              </a:rPr>
              <a:t>Jordan Abron</a:t>
            </a:r>
          </a:p>
          <a:p>
            <a:pPr algn="ctr"/>
            <a:r>
              <a:rPr lang="en-US" dirty="0">
                <a:solidFill>
                  <a:schemeClr val="tx1"/>
                </a:solidFill>
              </a:rPr>
              <a:t>Department of Electrical and Computer Engineering</a:t>
            </a:r>
          </a:p>
        </p:txBody>
      </p:sp>
      <p:sp>
        <p:nvSpPr>
          <p:cNvPr id="2052" name="TextBox 200"/>
          <p:cNvSpPr txBox="1">
            <a:spLocks noChangeArrowheads="1"/>
          </p:cNvSpPr>
          <p:nvPr/>
        </p:nvSpPr>
        <p:spPr bwMode="auto">
          <a:xfrm>
            <a:off x="31470600" y="1226344"/>
            <a:ext cx="6477000"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000" b="1">
                <a:solidFill>
                  <a:srgbClr val="003399"/>
                </a:solidFill>
                <a:latin typeface="Arial" charset="0"/>
              </a:defRPr>
            </a:lvl1pPr>
            <a:lvl2pPr marL="742950" indent="-285750">
              <a:defRPr sz="4000" b="1">
                <a:solidFill>
                  <a:srgbClr val="003399"/>
                </a:solidFill>
                <a:latin typeface="Arial" charset="0"/>
              </a:defRPr>
            </a:lvl2pPr>
            <a:lvl3pPr marL="1143000" indent="-228600">
              <a:defRPr sz="4000" b="1">
                <a:solidFill>
                  <a:srgbClr val="003399"/>
                </a:solidFill>
                <a:latin typeface="Arial" charset="0"/>
              </a:defRPr>
            </a:lvl3pPr>
            <a:lvl4pPr marL="1600200" indent="-228600">
              <a:defRPr sz="4000" b="1">
                <a:solidFill>
                  <a:srgbClr val="003399"/>
                </a:solidFill>
                <a:latin typeface="Arial" charset="0"/>
              </a:defRPr>
            </a:lvl4pPr>
            <a:lvl5pPr marL="2057400" indent="-228600">
              <a:defRPr sz="4000" b="1">
                <a:solidFill>
                  <a:srgbClr val="003399"/>
                </a:solidFill>
                <a:latin typeface="Arial" charset="0"/>
              </a:defRPr>
            </a:lvl5pPr>
            <a:lvl6pPr marL="2514600" indent="-228600" eaLnBrk="0" fontAlgn="base" hangingPunct="0">
              <a:spcBef>
                <a:spcPct val="0"/>
              </a:spcBef>
              <a:spcAft>
                <a:spcPct val="0"/>
              </a:spcAft>
              <a:defRPr sz="4000" b="1">
                <a:solidFill>
                  <a:srgbClr val="003399"/>
                </a:solidFill>
                <a:latin typeface="Arial" charset="0"/>
              </a:defRPr>
            </a:lvl6pPr>
            <a:lvl7pPr marL="2971800" indent="-228600" eaLnBrk="0" fontAlgn="base" hangingPunct="0">
              <a:spcBef>
                <a:spcPct val="0"/>
              </a:spcBef>
              <a:spcAft>
                <a:spcPct val="0"/>
              </a:spcAft>
              <a:defRPr sz="4000" b="1">
                <a:solidFill>
                  <a:srgbClr val="003399"/>
                </a:solidFill>
                <a:latin typeface="Arial" charset="0"/>
              </a:defRPr>
            </a:lvl7pPr>
            <a:lvl8pPr marL="3429000" indent="-228600" eaLnBrk="0" fontAlgn="base" hangingPunct="0">
              <a:spcBef>
                <a:spcPct val="0"/>
              </a:spcBef>
              <a:spcAft>
                <a:spcPct val="0"/>
              </a:spcAft>
              <a:defRPr sz="4000" b="1">
                <a:solidFill>
                  <a:srgbClr val="003399"/>
                </a:solidFill>
                <a:latin typeface="Arial" charset="0"/>
              </a:defRPr>
            </a:lvl8pPr>
            <a:lvl9pPr marL="3886200" indent="-228600" eaLnBrk="0" fontAlgn="base" hangingPunct="0">
              <a:spcBef>
                <a:spcPct val="0"/>
              </a:spcBef>
              <a:spcAft>
                <a:spcPct val="0"/>
              </a:spcAft>
              <a:defRPr sz="4000" b="1">
                <a:solidFill>
                  <a:srgbClr val="003399"/>
                </a:solidFill>
                <a:latin typeface="Arial" charset="0"/>
              </a:defRPr>
            </a:lvl9pPr>
          </a:lstStyle>
          <a:p>
            <a:pPr algn="ctr"/>
            <a:r>
              <a:rPr lang="en-US" sz="4800" dirty="0">
                <a:solidFill>
                  <a:srgbClr val="002D74"/>
                </a:solidFill>
                <a:latin typeface="Franklin Gothic Demi" pitchFamily="34" charset="0"/>
              </a:rPr>
              <a:t>Computer Engineering</a:t>
            </a:r>
          </a:p>
          <a:p>
            <a:pPr algn="ctr"/>
            <a:r>
              <a:rPr lang="en-US" sz="5400" dirty="0">
                <a:solidFill>
                  <a:srgbClr val="E65300"/>
                </a:solidFill>
                <a:latin typeface="Franklin Gothic Demi" pitchFamily="34" charset="0"/>
              </a:rPr>
              <a:t>DESIGN EXPO</a:t>
            </a:r>
          </a:p>
          <a:p>
            <a:pPr algn="ctr"/>
            <a:r>
              <a:rPr lang="en-US" sz="5400" dirty="0">
                <a:solidFill>
                  <a:srgbClr val="002D74"/>
                </a:solidFill>
                <a:latin typeface="Franklin Gothic Demi" pitchFamily="34" charset="0"/>
              </a:rPr>
              <a:t>2025</a:t>
            </a:r>
            <a:endParaRPr lang="en-US" sz="4800" dirty="0">
              <a:solidFill>
                <a:srgbClr val="002D74"/>
              </a:solidFill>
              <a:latin typeface="Franklin Gothic Demi" pitchFamily="34" charset="0"/>
            </a:endParaRPr>
          </a:p>
        </p:txBody>
      </p:sp>
      <p:sp>
        <p:nvSpPr>
          <p:cNvPr id="2055" name="TextBox 205"/>
          <p:cNvSpPr txBox="1">
            <a:spLocks noChangeArrowheads="1"/>
          </p:cNvSpPr>
          <p:nvPr/>
        </p:nvSpPr>
        <p:spPr bwMode="auto">
          <a:xfrm>
            <a:off x="13321666" y="228600"/>
            <a:ext cx="11601450" cy="1938992"/>
          </a:xfrm>
          <a:prstGeom prst="rect">
            <a:avLst/>
          </a:prstGeom>
          <a:solidFill>
            <a:srgbClr val="16234F"/>
          </a:solidFill>
          <a:ln>
            <a:noFill/>
          </a:ln>
        </p:spPr>
        <p:txBody>
          <a:bodyPr wrap="square">
            <a:spAutoFit/>
          </a:bodyPr>
          <a:lstStyle>
            <a:lvl1pPr>
              <a:defRPr sz="4000" b="1">
                <a:solidFill>
                  <a:srgbClr val="003399"/>
                </a:solidFill>
                <a:latin typeface="Arial" charset="0"/>
              </a:defRPr>
            </a:lvl1pPr>
            <a:lvl2pPr marL="742950" indent="-285750">
              <a:defRPr sz="4000" b="1">
                <a:solidFill>
                  <a:srgbClr val="003399"/>
                </a:solidFill>
                <a:latin typeface="Arial" charset="0"/>
              </a:defRPr>
            </a:lvl2pPr>
            <a:lvl3pPr marL="1143000" indent="-228600">
              <a:defRPr sz="4000" b="1">
                <a:solidFill>
                  <a:srgbClr val="003399"/>
                </a:solidFill>
                <a:latin typeface="Arial" charset="0"/>
              </a:defRPr>
            </a:lvl3pPr>
            <a:lvl4pPr marL="1600200" indent="-228600">
              <a:defRPr sz="4000" b="1">
                <a:solidFill>
                  <a:srgbClr val="003399"/>
                </a:solidFill>
                <a:latin typeface="Arial" charset="0"/>
              </a:defRPr>
            </a:lvl4pPr>
            <a:lvl5pPr marL="2057400" indent="-228600">
              <a:defRPr sz="4000" b="1">
                <a:solidFill>
                  <a:srgbClr val="003399"/>
                </a:solidFill>
                <a:latin typeface="Arial" charset="0"/>
              </a:defRPr>
            </a:lvl5pPr>
            <a:lvl6pPr marL="2514600" indent="-228600" eaLnBrk="0" fontAlgn="base" hangingPunct="0">
              <a:spcBef>
                <a:spcPct val="0"/>
              </a:spcBef>
              <a:spcAft>
                <a:spcPct val="0"/>
              </a:spcAft>
              <a:defRPr sz="4000" b="1">
                <a:solidFill>
                  <a:srgbClr val="003399"/>
                </a:solidFill>
                <a:latin typeface="Arial" charset="0"/>
              </a:defRPr>
            </a:lvl6pPr>
            <a:lvl7pPr marL="2971800" indent="-228600" eaLnBrk="0" fontAlgn="base" hangingPunct="0">
              <a:spcBef>
                <a:spcPct val="0"/>
              </a:spcBef>
              <a:spcAft>
                <a:spcPct val="0"/>
              </a:spcAft>
              <a:defRPr sz="4000" b="1">
                <a:solidFill>
                  <a:srgbClr val="003399"/>
                </a:solidFill>
                <a:latin typeface="Arial" charset="0"/>
              </a:defRPr>
            </a:lvl7pPr>
            <a:lvl8pPr marL="3429000" indent="-228600" eaLnBrk="0" fontAlgn="base" hangingPunct="0">
              <a:spcBef>
                <a:spcPct val="0"/>
              </a:spcBef>
              <a:spcAft>
                <a:spcPct val="0"/>
              </a:spcAft>
              <a:defRPr sz="4000" b="1">
                <a:solidFill>
                  <a:srgbClr val="003399"/>
                </a:solidFill>
                <a:latin typeface="Arial" charset="0"/>
              </a:defRPr>
            </a:lvl8pPr>
            <a:lvl9pPr marL="3886200" indent="-228600" eaLnBrk="0" fontAlgn="base" hangingPunct="0">
              <a:spcBef>
                <a:spcPct val="0"/>
              </a:spcBef>
              <a:spcAft>
                <a:spcPct val="0"/>
              </a:spcAft>
              <a:defRPr sz="4000" b="1">
                <a:solidFill>
                  <a:srgbClr val="003399"/>
                </a:solidFill>
                <a:latin typeface="Arial" charset="0"/>
              </a:defRPr>
            </a:lvl9pPr>
          </a:lstStyle>
          <a:p>
            <a:pPr algn="ctr"/>
            <a:r>
              <a:rPr lang="en-US" sz="6000" dirty="0">
                <a:solidFill>
                  <a:schemeClr val="bg1"/>
                </a:solidFill>
                <a:latin typeface="Arial Rounded MT Bold" pitchFamily="34" charset="0"/>
              </a:rPr>
              <a:t>SynkLinx - “The World’s First Smart Necklace”</a:t>
            </a:r>
          </a:p>
        </p:txBody>
      </p:sp>
      <p:sp>
        <p:nvSpPr>
          <p:cNvPr id="2056" name="TextBox 210"/>
          <p:cNvSpPr txBox="1">
            <a:spLocks noChangeArrowheads="1"/>
          </p:cNvSpPr>
          <p:nvPr/>
        </p:nvSpPr>
        <p:spPr bwMode="auto">
          <a:xfrm>
            <a:off x="1483814" y="10326885"/>
            <a:ext cx="9841230" cy="584775"/>
          </a:xfrm>
          <a:prstGeom prst="rect">
            <a:avLst/>
          </a:prstGeom>
          <a:solidFill>
            <a:schemeClr val="bg1"/>
          </a:solidFill>
          <a:ln w="9525">
            <a:noFill/>
            <a:miter lim="800000"/>
            <a:headEnd/>
            <a:tailEnd/>
          </a:ln>
        </p:spPr>
        <p:txBody>
          <a:bodyPr>
            <a:spAutoFit/>
          </a:bodyPr>
          <a:lstStyle>
            <a:lvl1pPr>
              <a:defRPr sz="4000" b="1">
                <a:solidFill>
                  <a:srgbClr val="003399"/>
                </a:solidFill>
                <a:latin typeface="Arial" charset="0"/>
              </a:defRPr>
            </a:lvl1pPr>
            <a:lvl2pPr marL="742950" indent="-285750">
              <a:defRPr sz="4000" b="1">
                <a:solidFill>
                  <a:srgbClr val="003399"/>
                </a:solidFill>
                <a:latin typeface="Arial" charset="0"/>
              </a:defRPr>
            </a:lvl2pPr>
            <a:lvl3pPr marL="1143000" indent="-228600">
              <a:defRPr sz="4000" b="1">
                <a:solidFill>
                  <a:srgbClr val="003399"/>
                </a:solidFill>
                <a:latin typeface="Arial" charset="0"/>
              </a:defRPr>
            </a:lvl3pPr>
            <a:lvl4pPr marL="1600200" indent="-228600">
              <a:defRPr sz="4000" b="1">
                <a:solidFill>
                  <a:srgbClr val="003399"/>
                </a:solidFill>
                <a:latin typeface="Arial" charset="0"/>
              </a:defRPr>
            </a:lvl4pPr>
            <a:lvl5pPr marL="2057400" indent="-228600">
              <a:defRPr sz="4000" b="1">
                <a:solidFill>
                  <a:srgbClr val="003399"/>
                </a:solidFill>
                <a:latin typeface="Arial" charset="0"/>
              </a:defRPr>
            </a:lvl5pPr>
            <a:lvl6pPr marL="2514600" indent="-228600" eaLnBrk="0" fontAlgn="base" hangingPunct="0">
              <a:spcBef>
                <a:spcPct val="0"/>
              </a:spcBef>
              <a:spcAft>
                <a:spcPct val="0"/>
              </a:spcAft>
              <a:defRPr sz="4000" b="1">
                <a:solidFill>
                  <a:srgbClr val="003399"/>
                </a:solidFill>
                <a:latin typeface="Arial" charset="0"/>
              </a:defRPr>
            </a:lvl6pPr>
            <a:lvl7pPr marL="2971800" indent="-228600" eaLnBrk="0" fontAlgn="base" hangingPunct="0">
              <a:spcBef>
                <a:spcPct val="0"/>
              </a:spcBef>
              <a:spcAft>
                <a:spcPct val="0"/>
              </a:spcAft>
              <a:defRPr sz="4000" b="1">
                <a:solidFill>
                  <a:srgbClr val="003399"/>
                </a:solidFill>
                <a:latin typeface="Arial" charset="0"/>
              </a:defRPr>
            </a:lvl7pPr>
            <a:lvl8pPr marL="3429000" indent="-228600" eaLnBrk="0" fontAlgn="base" hangingPunct="0">
              <a:spcBef>
                <a:spcPct val="0"/>
              </a:spcBef>
              <a:spcAft>
                <a:spcPct val="0"/>
              </a:spcAft>
              <a:defRPr sz="4000" b="1">
                <a:solidFill>
                  <a:srgbClr val="003399"/>
                </a:solidFill>
                <a:latin typeface="Arial" charset="0"/>
              </a:defRPr>
            </a:lvl8pPr>
            <a:lvl9pPr marL="3886200" indent="-228600" eaLnBrk="0" fontAlgn="base" hangingPunct="0">
              <a:spcBef>
                <a:spcPct val="0"/>
              </a:spcBef>
              <a:spcAft>
                <a:spcPct val="0"/>
              </a:spcAft>
              <a:defRPr sz="4000" b="1">
                <a:solidFill>
                  <a:srgbClr val="003399"/>
                </a:solidFill>
                <a:latin typeface="Arial" charset="0"/>
              </a:defRPr>
            </a:lvl9pPr>
          </a:lstStyle>
          <a:p>
            <a:pPr marL="457200" indent="-457200">
              <a:buFont typeface="Wingdings" panose="05000000000000000000" pitchFamily="2" charset="2"/>
              <a:buChar char="Ø"/>
            </a:pPr>
            <a:endParaRPr lang="en-US" sz="3200" dirty="0"/>
          </a:p>
        </p:txBody>
      </p:sp>
      <p:sp>
        <p:nvSpPr>
          <p:cNvPr id="2057" name="TextBox 212"/>
          <p:cNvSpPr txBox="1">
            <a:spLocks noChangeArrowheads="1"/>
          </p:cNvSpPr>
          <p:nvPr/>
        </p:nvSpPr>
        <p:spPr bwMode="auto">
          <a:xfrm>
            <a:off x="1479968" y="21736586"/>
            <a:ext cx="10535691" cy="5016758"/>
          </a:xfrm>
          <a:prstGeom prst="rect">
            <a:avLst/>
          </a:prstGeom>
          <a:solidFill>
            <a:schemeClr val="bg1"/>
          </a:solidFill>
          <a:ln w="9525">
            <a:noFill/>
            <a:miter lim="800000"/>
            <a:headEnd/>
            <a:tailEnd/>
          </a:ln>
        </p:spPr>
        <p:txBody>
          <a:bodyPr wrap="square">
            <a:spAutoFit/>
          </a:bodyPr>
          <a:lstStyle>
            <a:lvl1pPr>
              <a:defRPr sz="4000" b="1">
                <a:solidFill>
                  <a:srgbClr val="003399"/>
                </a:solidFill>
                <a:latin typeface="Arial" charset="0"/>
              </a:defRPr>
            </a:lvl1pPr>
            <a:lvl2pPr marL="742950" indent="-285750">
              <a:defRPr sz="4000" b="1">
                <a:solidFill>
                  <a:srgbClr val="003399"/>
                </a:solidFill>
                <a:latin typeface="Arial" charset="0"/>
              </a:defRPr>
            </a:lvl2pPr>
            <a:lvl3pPr marL="1143000" indent="-228600">
              <a:defRPr sz="4000" b="1">
                <a:solidFill>
                  <a:srgbClr val="003399"/>
                </a:solidFill>
                <a:latin typeface="Arial" charset="0"/>
              </a:defRPr>
            </a:lvl3pPr>
            <a:lvl4pPr marL="1600200" indent="-228600">
              <a:defRPr sz="4000" b="1">
                <a:solidFill>
                  <a:srgbClr val="003399"/>
                </a:solidFill>
                <a:latin typeface="Arial" charset="0"/>
              </a:defRPr>
            </a:lvl4pPr>
            <a:lvl5pPr marL="2057400" indent="-228600">
              <a:defRPr sz="4000" b="1">
                <a:solidFill>
                  <a:srgbClr val="003399"/>
                </a:solidFill>
                <a:latin typeface="Arial" charset="0"/>
              </a:defRPr>
            </a:lvl5pPr>
            <a:lvl6pPr marL="2514600" indent="-228600" eaLnBrk="0" fontAlgn="base" hangingPunct="0">
              <a:spcBef>
                <a:spcPct val="0"/>
              </a:spcBef>
              <a:spcAft>
                <a:spcPct val="0"/>
              </a:spcAft>
              <a:defRPr sz="4000" b="1">
                <a:solidFill>
                  <a:srgbClr val="003399"/>
                </a:solidFill>
                <a:latin typeface="Arial" charset="0"/>
              </a:defRPr>
            </a:lvl6pPr>
            <a:lvl7pPr marL="2971800" indent="-228600" eaLnBrk="0" fontAlgn="base" hangingPunct="0">
              <a:spcBef>
                <a:spcPct val="0"/>
              </a:spcBef>
              <a:spcAft>
                <a:spcPct val="0"/>
              </a:spcAft>
              <a:defRPr sz="4000" b="1">
                <a:solidFill>
                  <a:srgbClr val="003399"/>
                </a:solidFill>
                <a:latin typeface="Arial" charset="0"/>
              </a:defRPr>
            </a:lvl7pPr>
            <a:lvl8pPr marL="3429000" indent="-228600" eaLnBrk="0" fontAlgn="base" hangingPunct="0">
              <a:spcBef>
                <a:spcPct val="0"/>
              </a:spcBef>
              <a:spcAft>
                <a:spcPct val="0"/>
              </a:spcAft>
              <a:defRPr sz="4000" b="1">
                <a:solidFill>
                  <a:srgbClr val="003399"/>
                </a:solidFill>
                <a:latin typeface="Arial" charset="0"/>
              </a:defRPr>
            </a:lvl8pPr>
            <a:lvl9pPr marL="3886200" indent="-228600" eaLnBrk="0" fontAlgn="base" hangingPunct="0">
              <a:spcBef>
                <a:spcPct val="0"/>
              </a:spcBef>
              <a:spcAft>
                <a:spcPct val="0"/>
              </a:spcAft>
              <a:defRPr sz="4000" b="1">
                <a:solidFill>
                  <a:srgbClr val="003399"/>
                </a:solidFill>
                <a:latin typeface="Arial" charset="0"/>
              </a:defRPr>
            </a:lvl9pPr>
          </a:lstStyle>
          <a:p>
            <a:pPr marL="457200" indent="-457200">
              <a:buFont typeface="Wingdings" panose="05000000000000000000" pitchFamily="2" charset="2"/>
              <a:buChar char="Ø"/>
            </a:pPr>
            <a:r>
              <a:rPr lang="en-US" sz="3200" dirty="0"/>
              <a:t>Design features an ergonomic band that contours around the neck, ensuring a secure fit for data collection</a:t>
            </a:r>
          </a:p>
          <a:p>
            <a:pPr marL="457200" indent="-457200">
              <a:buFont typeface="Wingdings" panose="05000000000000000000" pitchFamily="2" charset="2"/>
              <a:buChar char="Ø"/>
            </a:pPr>
            <a:r>
              <a:rPr lang="en-US" sz="3200" dirty="0"/>
              <a:t>The pulse oximeter sensor is positioned near the carotid artery and uses an infrared sensor to detect a pulse.</a:t>
            </a:r>
          </a:p>
          <a:p>
            <a:pPr marL="457200" indent="-457200">
              <a:buFont typeface="Wingdings" panose="05000000000000000000" pitchFamily="2" charset="2"/>
              <a:buChar char="Ø"/>
            </a:pPr>
            <a:r>
              <a:rPr lang="en-US" sz="3200" dirty="0"/>
              <a:t>The temperature sensor is positioned close to where the neck and clavicle join.</a:t>
            </a:r>
          </a:p>
          <a:p>
            <a:pPr marL="1200150" lvl="1" indent="-457200">
              <a:buFont typeface="Wingdings" panose="05000000000000000000" pitchFamily="2" charset="2"/>
              <a:buChar char="v"/>
            </a:pPr>
            <a:r>
              <a:rPr lang="en-US" sz="3200" dirty="0"/>
              <a:t>Body temperature based on homeostasis</a:t>
            </a:r>
          </a:p>
          <a:p>
            <a:pPr marL="457200" indent="-457200">
              <a:buFont typeface="Wingdings" panose="05000000000000000000" pitchFamily="2" charset="2"/>
              <a:buChar char="Ø"/>
            </a:pPr>
            <a:endParaRPr lang="en-US" sz="3200" dirty="0"/>
          </a:p>
        </p:txBody>
      </p:sp>
      <p:sp>
        <p:nvSpPr>
          <p:cNvPr id="2059" name="TextBox 216"/>
          <p:cNvSpPr txBox="1">
            <a:spLocks noChangeArrowheads="1"/>
          </p:cNvSpPr>
          <p:nvPr/>
        </p:nvSpPr>
        <p:spPr bwMode="auto">
          <a:xfrm>
            <a:off x="13681710" y="17540142"/>
            <a:ext cx="10721340" cy="1077218"/>
          </a:xfrm>
          <a:prstGeom prst="rect">
            <a:avLst/>
          </a:prstGeom>
          <a:solidFill>
            <a:schemeClr val="bg1"/>
          </a:solidFill>
          <a:ln w="9525">
            <a:noFill/>
            <a:miter lim="800000"/>
            <a:headEnd/>
            <a:tailEnd/>
          </a:ln>
        </p:spPr>
        <p:txBody>
          <a:bodyPr wrap="square">
            <a:spAutoFit/>
          </a:bodyPr>
          <a:lstStyle>
            <a:lvl1pPr>
              <a:defRPr sz="4000" b="1">
                <a:solidFill>
                  <a:srgbClr val="003399"/>
                </a:solidFill>
                <a:latin typeface="Arial" charset="0"/>
              </a:defRPr>
            </a:lvl1pPr>
            <a:lvl2pPr marL="742950" indent="-285750">
              <a:defRPr sz="4000" b="1">
                <a:solidFill>
                  <a:srgbClr val="003399"/>
                </a:solidFill>
                <a:latin typeface="Arial" charset="0"/>
              </a:defRPr>
            </a:lvl2pPr>
            <a:lvl3pPr marL="1143000" indent="-228600">
              <a:defRPr sz="4000" b="1">
                <a:solidFill>
                  <a:srgbClr val="003399"/>
                </a:solidFill>
                <a:latin typeface="Arial" charset="0"/>
              </a:defRPr>
            </a:lvl3pPr>
            <a:lvl4pPr marL="1600200" indent="-228600">
              <a:defRPr sz="4000" b="1">
                <a:solidFill>
                  <a:srgbClr val="003399"/>
                </a:solidFill>
                <a:latin typeface="Arial" charset="0"/>
              </a:defRPr>
            </a:lvl4pPr>
            <a:lvl5pPr marL="2057400" indent="-228600">
              <a:defRPr sz="4000" b="1">
                <a:solidFill>
                  <a:srgbClr val="003399"/>
                </a:solidFill>
                <a:latin typeface="Arial" charset="0"/>
              </a:defRPr>
            </a:lvl5pPr>
            <a:lvl6pPr marL="2514600" indent="-228600" eaLnBrk="0" fontAlgn="base" hangingPunct="0">
              <a:spcBef>
                <a:spcPct val="0"/>
              </a:spcBef>
              <a:spcAft>
                <a:spcPct val="0"/>
              </a:spcAft>
              <a:defRPr sz="4000" b="1">
                <a:solidFill>
                  <a:srgbClr val="003399"/>
                </a:solidFill>
                <a:latin typeface="Arial" charset="0"/>
              </a:defRPr>
            </a:lvl6pPr>
            <a:lvl7pPr marL="2971800" indent="-228600" eaLnBrk="0" fontAlgn="base" hangingPunct="0">
              <a:spcBef>
                <a:spcPct val="0"/>
              </a:spcBef>
              <a:spcAft>
                <a:spcPct val="0"/>
              </a:spcAft>
              <a:defRPr sz="4000" b="1">
                <a:solidFill>
                  <a:srgbClr val="003399"/>
                </a:solidFill>
                <a:latin typeface="Arial" charset="0"/>
              </a:defRPr>
            </a:lvl7pPr>
            <a:lvl8pPr marL="3429000" indent="-228600" eaLnBrk="0" fontAlgn="base" hangingPunct="0">
              <a:spcBef>
                <a:spcPct val="0"/>
              </a:spcBef>
              <a:spcAft>
                <a:spcPct val="0"/>
              </a:spcAft>
              <a:defRPr sz="4000" b="1">
                <a:solidFill>
                  <a:srgbClr val="003399"/>
                </a:solidFill>
                <a:latin typeface="Arial" charset="0"/>
              </a:defRPr>
            </a:lvl8pPr>
            <a:lvl9pPr marL="3886200" indent="-228600" eaLnBrk="0" fontAlgn="base" hangingPunct="0">
              <a:spcBef>
                <a:spcPct val="0"/>
              </a:spcBef>
              <a:spcAft>
                <a:spcPct val="0"/>
              </a:spcAft>
              <a:defRPr sz="4000" b="1">
                <a:solidFill>
                  <a:srgbClr val="003399"/>
                </a:solidFill>
                <a:latin typeface="Arial" charset="0"/>
              </a:defRPr>
            </a:lvl9pPr>
          </a:lstStyle>
          <a:p>
            <a:r>
              <a:rPr lang="en-US" sz="3200" dirty="0"/>
              <a:t>Testing and validation was performed at home prior to necklace construction.</a:t>
            </a:r>
          </a:p>
        </p:txBody>
      </p:sp>
      <p:sp>
        <p:nvSpPr>
          <p:cNvPr id="2060" name="TextBox 218"/>
          <p:cNvSpPr txBox="1">
            <a:spLocks noChangeArrowheads="1"/>
          </p:cNvSpPr>
          <p:nvPr/>
        </p:nvSpPr>
        <p:spPr bwMode="auto">
          <a:xfrm>
            <a:off x="25908000" y="6522996"/>
            <a:ext cx="10241280" cy="584775"/>
          </a:xfrm>
          <a:prstGeom prst="rect">
            <a:avLst/>
          </a:prstGeom>
          <a:solidFill>
            <a:schemeClr val="bg1"/>
          </a:solidFill>
          <a:ln w="9525">
            <a:noFill/>
            <a:miter lim="800000"/>
            <a:headEnd/>
            <a:tailEnd/>
          </a:ln>
        </p:spPr>
        <p:txBody>
          <a:bodyPr wrap="square">
            <a:spAutoFit/>
          </a:bodyPr>
          <a:lstStyle>
            <a:lvl1pPr>
              <a:defRPr sz="4000" b="1">
                <a:solidFill>
                  <a:srgbClr val="003399"/>
                </a:solidFill>
                <a:latin typeface="Arial" charset="0"/>
              </a:defRPr>
            </a:lvl1pPr>
            <a:lvl2pPr marL="742950" indent="-285750">
              <a:defRPr sz="4000" b="1">
                <a:solidFill>
                  <a:srgbClr val="003399"/>
                </a:solidFill>
                <a:latin typeface="Arial" charset="0"/>
              </a:defRPr>
            </a:lvl2pPr>
            <a:lvl3pPr marL="1143000" indent="-228600">
              <a:defRPr sz="4000" b="1">
                <a:solidFill>
                  <a:srgbClr val="003399"/>
                </a:solidFill>
                <a:latin typeface="Arial" charset="0"/>
              </a:defRPr>
            </a:lvl3pPr>
            <a:lvl4pPr marL="1600200" indent="-228600">
              <a:defRPr sz="4000" b="1">
                <a:solidFill>
                  <a:srgbClr val="003399"/>
                </a:solidFill>
                <a:latin typeface="Arial" charset="0"/>
              </a:defRPr>
            </a:lvl4pPr>
            <a:lvl5pPr marL="2057400" indent="-228600">
              <a:defRPr sz="4000" b="1">
                <a:solidFill>
                  <a:srgbClr val="003399"/>
                </a:solidFill>
                <a:latin typeface="Arial" charset="0"/>
              </a:defRPr>
            </a:lvl5pPr>
            <a:lvl6pPr marL="2514600" indent="-228600" eaLnBrk="0" fontAlgn="base" hangingPunct="0">
              <a:spcBef>
                <a:spcPct val="0"/>
              </a:spcBef>
              <a:spcAft>
                <a:spcPct val="0"/>
              </a:spcAft>
              <a:defRPr sz="4000" b="1">
                <a:solidFill>
                  <a:srgbClr val="003399"/>
                </a:solidFill>
                <a:latin typeface="Arial" charset="0"/>
              </a:defRPr>
            </a:lvl6pPr>
            <a:lvl7pPr marL="2971800" indent="-228600" eaLnBrk="0" fontAlgn="base" hangingPunct="0">
              <a:spcBef>
                <a:spcPct val="0"/>
              </a:spcBef>
              <a:spcAft>
                <a:spcPct val="0"/>
              </a:spcAft>
              <a:defRPr sz="4000" b="1">
                <a:solidFill>
                  <a:srgbClr val="003399"/>
                </a:solidFill>
                <a:latin typeface="Arial" charset="0"/>
              </a:defRPr>
            </a:lvl7pPr>
            <a:lvl8pPr marL="3429000" indent="-228600" eaLnBrk="0" fontAlgn="base" hangingPunct="0">
              <a:spcBef>
                <a:spcPct val="0"/>
              </a:spcBef>
              <a:spcAft>
                <a:spcPct val="0"/>
              </a:spcAft>
              <a:defRPr sz="4000" b="1">
                <a:solidFill>
                  <a:srgbClr val="003399"/>
                </a:solidFill>
                <a:latin typeface="Arial" charset="0"/>
              </a:defRPr>
            </a:lvl8pPr>
            <a:lvl9pPr marL="3886200" indent="-228600" eaLnBrk="0" fontAlgn="base" hangingPunct="0">
              <a:spcBef>
                <a:spcPct val="0"/>
              </a:spcBef>
              <a:spcAft>
                <a:spcPct val="0"/>
              </a:spcAft>
              <a:defRPr sz="4000" b="1">
                <a:solidFill>
                  <a:srgbClr val="003399"/>
                </a:solidFill>
                <a:latin typeface="Arial" charset="0"/>
              </a:defRPr>
            </a:lvl9pPr>
          </a:lstStyle>
          <a:p>
            <a:endParaRPr lang="en-US" sz="3200" dirty="0"/>
          </a:p>
        </p:txBody>
      </p:sp>
      <p:sp>
        <p:nvSpPr>
          <p:cNvPr id="2061" name="TextBox 220"/>
          <p:cNvSpPr txBox="1">
            <a:spLocks noChangeArrowheads="1"/>
          </p:cNvSpPr>
          <p:nvPr/>
        </p:nvSpPr>
        <p:spPr bwMode="auto">
          <a:xfrm>
            <a:off x="26104231" y="17555959"/>
            <a:ext cx="10644171" cy="7971413"/>
          </a:xfrm>
          <a:prstGeom prst="rect">
            <a:avLst/>
          </a:prstGeom>
          <a:solidFill>
            <a:schemeClr val="bg1"/>
          </a:solidFill>
          <a:ln w="9525">
            <a:noFill/>
            <a:miter lim="800000"/>
            <a:headEnd/>
            <a:tailEnd/>
          </a:ln>
        </p:spPr>
        <p:txBody>
          <a:bodyPr wrap="square">
            <a:spAutoFit/>
          </a:bodyPr>
          <a:lstStyle>
            <a:lvl1pPr>
              <a:defRPr sz="4000" b="1">
                <a:solidFill>
                  <a:srgbClr val="003399"/>
                </a:solidFill>
                <a:latin typeface="Arial" charset="0"/>
              </a:defRPr>
            </a:lvl1pPr>
            <a:lvl2pPr marL="742950" indent="-285750">
              <a:defRPr sz="4000" b="1">
                <a:solidFill>
                  <a:srgbClr val="003399"/>
                </a:solidFill>
                <a:latin typeface="Arial" charset="0"/>
              </a:defRPr>
            </a:lvl2pPr>
            <a:lvl3pPr marL="1143000" indent="-228600">
              <a:defRPr sz="4000" b="1">
                <a:solidFill>
                  <a:srgbClr val="003399"/>
                </a:solidFill>
                <a:latin typeface="Arial" charset="0"/>
              </a:defRPr>
            </a:lvl3pPr>
            <a:lvl4pPr marL="1600200" indent="-228600">
              <a:defRPr sz="4000" b="1">
                <a:solidFill>
                  <a:srgbClr val="003399"/>
                </a:solidFill>
                <a:latin typeface="Arial" charset="0"/>
              </a:defRPr>
            </a:lvl4pPr>
            <a:lvl5pPr marL="2057400" indent="-228600">
              <a:defRPr sz="4000" b="1">
                <a:solidFill>
                  <a:srgbClr val="003399"/>
                </a:solidFill>
                <a:latin typeface="Arial" charset="0"/>
              </a:defRPr>
            </a:lvl5pPr>
            <a:lvl6pPr marL="2514600" indent="-228600" eaLnBrk="0" fontAlgn="base" hangingPunct="0">
              <a:spcBef>
                <a:spcPct val="0"/>
              </a:spcBef>
              <a:spcAft>
                <a:spcPct val="0"/>
              </a:spcAft>
              <a:defRPr sz="4000" b="1">
                <a:solidFill>
                  <a:srgbClr val="003399"/>
                </a:solidFill>
                <a:latin typeface="Arial" charset="0"/>
              </a:defRPr>
            </a:lvl6pPr>
            <a:lvl7pPr marL="2971800" indent="-228600" eaLnBrk="0" fontAlgn="base" hangingPunct="0">
              <a:spcBef>
                <a:spcPct val="0"/>
              </a:spcBef>
              <a:spcAft>
                <a:spcPct val="0"/>
              </a:spcAft>
              <a:defRPr sz="4000" b="1">
                <a:solidFill>
                  <a:srgbClr val="003399"/>
                </a:solidFill>
                <a:latin typeface="Arial" charset="0"/>
              </a:defRPr>
            </a:lvl7pPr>
            <a:lvl8pPr marL="3429000" indent="-228600" eaLnBrk="0" fontAlgn="base" hangingPunct="0">
              <a:spcBef>
                <a:spcPct val="0"/>
              </a:spcBef>
              <a:spcAft>
                <a:spcPct val="0"/>
              </a:spcAft>
              <a:defRPr sz="4000" b="1">
                <a:solidFill>
                  <a:srgbClr val="003399"/>
                </a:solidFill>
                <a:latin typeface="Arial" charset="0"/>
              </a:defRPr>
            </a:lvl8pPr>
            <a:lvl9pPr marL="3886200" indent="-228600" eaLnBrk="0" fontAlgn="base" hangingPunct="0">
              <a:spcBef>
                <a:spcPct val="0"/>
              </a:spcBef>
              <a:spcAft>
                <a:spcPct val="0"/>
              </a:spcAft>
              <a:defRPr sz="4000" b="1">
                <a:solidFill>
                  <a:srgbClr val="003399"/>
                </a:solidFill>
                <a:latin typeface="Arial" charset="0"/>
              </a:defRPr>
            </a:lvl9pPr>
          </a:lstStyle>
          <a:p>
            <a:pPr marL="457200" indent="-457200">
              <a:buFont typeface="Wingdings" panose="05000000000000000000" pitchFamily="2" charset="2"/>
              <a:buChar char="Ø"/>
            </a:pPr>
            <a:r>
              <a:rPr lang="en-US" sz="3200" dirty="0"/>
              <a:t>I would like to thank the entire faculty and staff at UT Tyler Department of Electrical and Computer Engineering, specifically Dr. Frederic Rizk and Dr. Vijayalakshmi Saravanan for their advice, grace, analysis and support during this semester and in the inception of this project. They both provided critical analysis and insight that weighed heavily on the success of the device. </a:t>
            </a:r>
          </a:p>
          <a:p>
            <a:endParaRPr lang="en-US" sz="3200" dirty="0"/>
          </a:p>
          <a:p>
            <a:pPr marL="457200" indent="-457200">
              <a:buFont typeface="Wingdings" panose="05000000000000000000" pitchFamily="2" charset="2"/>
              <a:buChar char="Ø"/>
            </a:pPr>
            <a:r>
              <a:rPr lang="en-US" sz="3200" dirty="0"/>
              <a:t>I also would like to thank my dear wife Kaitlyn and my parents for their financial contributions regarding the materials and project construction</a:t>
            </a:r>
          </a:p>
          <a:p>
            <a:endParaRPr lang="en-US" sz="3200" dirty="0"/>
          </a:p>
          <a:p>
            <a:pPr marL="457200" indent="-457200">
              <a:buFont typeface="Wingdings" panose="05000000000000000000" pitchFamily="2" charset="2"/>
              <a:buChar char="Ø"/>
            </a:pPr>
            <a:r>
              <a:rPr lang="en-US" sz="3200" dirty="0"/>
              <a:t> Everyone mentioned above made an impact well beyond what words can convey. Without them, SynkLinx would not have been possible.</a:t>
            </a:r>
            <a:endParaRPr lang="en-US" sz="2400" dirty="0"/>
          </a:p>
        </p:txBody>
      </p:sp>
      <p:grpSp>
        <p:nvGrpSpPr>
          <p:cNvPr id="2062" name="Group 4"/>
          <p:cNvGrpSpPr>
            <a:grpSpLocks/>
          </p:cNvGrpSpPr>
          <p:nvPr/>
        </p:nvGrpSpPr>
        <p:grpSpPr bwMode="auto">
          <a:xfrm>
            <a:off x="1040130" y="5357812"/>
            <a:ext cx="36324540" cy="21074063"/>
            <a:chOff x="990600" y="5715000"/>
            <a:chExt cx="34594800" cy="22479000"/>
          </a:xfrm>
        </p:grpSpPr>
        <p:sp>
          <p:nvSpPr>
            <p:cNvPr id="204" name="TextBox 203"/>
            <p:cNvSpPr txBox="1"/>
            <p:nvPr/>
          </p:nvSpPr>
          <p:spPr>
            <a:xfrm>
              <a:off x="990600" y="5715000"/>
              <a:ext cx="11049000" cy="820737"/>
            </a:xfrm>
            <a:prstGeom prst="rect">
              <a:avLst/>
            </a:prstGeom>
            <a:gradFill flip="none" rotWithShape="1">
              <a:gsLst>
                <a:gs pos="0">
                  <a:schemeClr val="tx2">
                    <a:shade val="67500"/>
                    <a:satMod val="115000"/>
                    <a:shade val="30000"/>
                    <a:satMod val="115000"/>
                  </a:schemeClr>
                </a:gs>
                <a:gs pos="98000">
                  <a:schemeClr val="tx2">
                    <a:shade val="67500"/>
                    <a:satMod val="115000"/>
                    <a:shade val="67500"/>
                    <a:satMod val="115000"/>
                    <a:lumMod val="0"/>
                    <a:alpha val="6000"/>
                  </a:schemeClr>
                </a:gs>
              </a:gsLst>
              <a:path path="circle">
                <a:fillToRect r="100000" b="100000"/>
              </a:path>
              <a:tileRect l="-100000" t="-100000"/>
            </a:gradFill>
            <a:ln>
              <a:noFill/>
            </a:ln>
          </p:spPr>
          <p:txBody>
            <a:bodyPr>
              <a:spAutoFit/>
            </a:bodyPr>
            <a:lstStyle/>
            <a:p>
              <a:pPr>
                <a:defRPr/>
              </a:pPr>
              <a:r>
                <a:rPr lang="en-US" sz="4400" dirty="0">
                  <a:solidFill>
                    <a:schemeClr val="bg1"/>
                  </a:solidFill>
                </a:rPr>
                <a:t>PROJECT DESCRIPTION</a:t>
              </a:r>
            </a:p>
          </p:txBody>
        </p:sp>
        <p:sp>
          <p:nvSpPr>
            <p:cNvPr id="205" name="TextBox 204"/>
            <p:cNvSpPr txBox="1"/>
            <p:nvPr/>
          </p:nvSpPr>
          <p:spPr>
            <a:xfrm>
              <a:off x="990600" y="17373600"/>
              <a:ext cx="11125200" cy="820737"/>
            </a:xfrm>
            <a:prstGeom prst="rect">
              <a:avLst/>
            </a:prstGeom>
            <a:gradFill flip="none" rotWithShape="1">
              <a:gsLst>
                <a:gs pos="0">
                  <a:schemeClr val="tx2">
                    <a:shade val="67500"/>
                    <a:satMod val="115000"/>
                    <a:shade val="30000"/>
                    <a:satMod val="115000"/>
                  </a:schemeClr>
                </a:gs>
                <a:gs pos="98000">
                  <a:schemeClr val="tx2">
                    <a:shade val="67500"/>
                    <a:satMod val="115000"/>
                    <a:shade val="67500"/>
                    <a:satMod val="115000"/>
                    <a:lumMod val="0"/>
                    <a:alpha val="6000"/>
                  </a:schemeClr>
                </a:gs>
              </a:gsLst>
              <a:path path="circle">
                <a:fillToRect r="100000" b="100000"/>
              </a:path>
              <a:tileRect l="-100000" t="-100000"/>
            </a:gradFill>
            <a:ln>
              <a:noFill/>
            </a:ln>
          </p:spPr>
          <p:txBody>
            <a:bodyPr>
              <a:spAutoFit/>
            </a:bodyPr>
            <a:lstStyle>
              <a:defPPr>
                <a:defRPr lang="en-US"/>
              </a:defPPr>
              <a:lvl1pPr>
                <a:defRPr sz="4000" b="1">
                  <a:solidFill>
                    <a:schemeClr val="bg1"/>
                  </a:solidFill>
                </a:defRPr>
              </a:lvl1pPr>
            </a:lstStyle>
            <a:p>
              <a:pPr>
                <a:defRPr/>
              </a:pPr>
              <a:r>
                <a:rPr lang="en-US" sz="4400" dirty="0"/>
                <a:t>DESIGN REQUIREMENTS</a:t>
              </a:r>
            </a:p>
          </p:txBody>
        </p:sp>
        <p:sp>
          <p:nvSpPr>
            <p:cNvPr id="206" name="TextBox 205"/>
            <p:cNvSpPr txBox="1"/>
            <p:nvPr/>
          </p:nvSpPr>
          <p:spPr>
            <a:xfrm>
              <a:off x="12649200" y="5715000"/>
              <a:ext cx="11049000" cy="820737"/>
            </a:xfrm>
            <a:prstGeom prst="rect">
              <a:avLst/>
            </a:prstGeom>
            <a:gradFill flip="none" rotWithShape="1">
              <a:gsLst>
                <a:gs pos="0">
                  <a:schemeClr val="tx2">
                    <a:shade val="67500"/>
                    <a:satMod val="115000"/>
                    <a:shade val="30000"/>
                    <a:satMod val="115000"/>
                  </a:schemeClr>
                </a:gs>
                <a:gs pos="98000">
                  <a:schemeClr val="tx2">
                    <a:shade val="67500"/>
                    <a:satMod val="115000"/>
                    <a:shade val="67500"/>
                    <a:satMod val="115000"/>
                    <a:lumMod val="0"/>
                    <a:alpha val="6000"/>
                  </a:schemeClr>
                </a:gs>
              </a:gsLst>
              <a:path path="circle">
                <a:fillToRect r="100000" b="100000"/>
              </a:path>
              <a:tileRect l="-100000" t="-100000"/>
            </a:gradFill>
            <a:ln>
              <a:noFill/>
            </a:ln>
          </p:spPr>
          <p:txBody>
            <a:bodyPr>
              <a:spAutoFit/>
            </a:bodyPr>
            <a:lstStyle>
              <a:defPPr>
                <a:defRPr lang="en-US"/>
              </a:defPPr>
              <a:lvl1pPr>
                <a:defRPr sz="4000" b="1">
                  <a:solidFill>
                    <a:schemeClr val="bg1"/>
                  </a:solidFill>
                </a:defRPr>
              </a:lvl1pPr>
            </a:lstStyle>
            <a:p>
              <a:pPr>
                <a:defRPr/>
              </a:pPr>
              <a:r>
                <a:rPr lang="en-US" sz="4400" dirty="0"/>
                <a:t>PROTOTYPE</a:t>
              </a:r>
            </a:p>
          </p:txBody>
        </p:sp>
        <p:sp>
          <p:nvSpPr>
            <p:cNvPr id="207" name="TextBox 206"/>
            <p:cNvSpPr txBox="1"/>
            <p:nvPr/>
          </p:nvSpPr>
          <p:spPr>
            <a:xfrm>
              <a:off x="12649200" y="17297400"/>
              <a:ext cx="10972800" cy="820737"/>
            </a:xfrm>
            <a:prstGeom prst="rect">
              <a:avLst/>
            </a:prstGeom>
            <a:gradFill flip="none" rotWithShape="1">
              <a:gsLst>
                <a:gs pos="0">
                  <a:schemeClr val="tx2">
                    <a:shade val="67500"/>
                    <a:satMod val="115000"/>
                    <a:shade val="30000"/>
                    <a:satMod val="115000"/>
                  </a:schemeClr>
                </a:gs>
                <a:gs pos="98000">
                  <a:schemeClr val="tx2">
                    <a:shade val="67500"/>
                    <a:satMod val="115000"/>
                    <a:shade val="67500"/>
                    <a:satMod val="115000"/>
                    <a:lumMod val="0"/>
                    <a:alpha val="6000"/>
                  </a:schemeClr>
                </a:gs>
              </a:gsLst>
              <a:path path="circle">
                <a:fillToRect r="100000" b="100000"/>
              </a:path>
              <a:tileRect l="-100000" t="-100000"/>
            </a:gradFill>
            <a:ln>
              <a:noFill/>
            </a:ln>
          </p:spPr>
          <p:txBody>
            <a:bodyPr>
              <a:spAutoFit/>
            </a:bodyPr>
            <a:lstStyle>
              <a:defPPr>
                <a:defRPr lang="en-US"/>
              </a:defPPr>
              <a:lvl1pPr>
                <a:defRPr sz="4000" b="1">
                  <a:solidFill>
                    <a:schemeClr val="bg1"/>
                  </a:solidFill>
                </a:defRPr>
              </a:lvl1pPr>
            </a:lstStyle>
            <a:p>
              <a:pPr>
                <a:defRPr/>
              </a:pPr>
              <a:r>
                <a:rPr lang="en-US" sz="4400" dirty="0"/>
                <a:t>TESTING THE PROTOTYPE</a:t>
              </a:r>
            </a:p>
          </p:txBody>
        </p:sp>
        <p:sp>
          <p:nvSpPr>
            <p:cNvPr id="208" name="TextBox 207"/>
            <p:cNvSpPr txBox="1"/>
            <p:nvPr/>
          </p:nvSpPr>
          <p:spPr>
            <a:xfrm>
              <a:off x="24460200" y="5715000"/>
              <a:ext cx="11125200" cy="820737"/>
            </a:xfrm>
            <a:prstGeom prst="rect">
              <a:avLst/>
            </a:prstGeom>
            <a:gradFill flip="none" rotWithShape="1">
              <a:gsLst>
                <a:gs pos="0">
                  <a:schemeClr val="tx2">
                    <a:shade val="67500"/>
                    <a:satMod val="115000"/>
                    <a:shade val="30000"/>
                    <a:satMod val="115000"/>
                  </a:schemeClr>
                </a:gs>
                <a:gs pos="98000">
                  <a:schemeClr val="tx2">
                    <a:shade val="67500"/>
                    <a:satMod val="115000"/>
                    <a:shade val="67500"/>
                    <a:satMod val="115000"/>
                    <a:lumMod val="0"/>
                    <a:alpha val="6000"/>
                  </a:schemeClr>
                </a:gs>
              </a:gsLst>
              <a:path path="circle">
                <a:fillToRect r="100000" b="100000"/>
              </a:path>
              <a:tileRect l="-100000" t="-100000"/>
            </a:gradFill>
            <a:ln>
              <a:noFill/>
            </a:ln>
          </p:spPr>
          <p:txBody>
            <a:bodyPr>
              <a:spAutoFit/>
            </a:bodyPr>
            <a:lstStyle>
              <a:defPPr>
                <a:defRPr lang="en-US"/>
              </a:defPPr>
              <a:lvl1pPr>
                <a:defRPr sz="4000" b="1">
                  <a:solidFill>
                    <a:schemeClr val="bg1"/>
                  </a:solidFill>
                </a:defRPr>
              </a:lvl1pPr>
            </a:lstStyle>
            <a:p>
              <a:pPr>
                <a:defRPr/>
              </a:pPr>
              <a:r>
                <a:rPr lang="en-US" sz="4400" dirty="0"/>
                <a:t>PROTOTYPE (CONTINUED)</a:t>
              </a:r>
            </a:p>
          </p:txBody>
        </p:sp>
        <p:sp>
          <p:nvSpPr>
            <p:cNvPr id="209" name="TextBox 208"/>
            <p:cNvSpPr txBox="1"/>
            <p:nvPr/>
          </p:nvSpPr>
          <p:spPr>
            <a:xfrm>
              <a:off x="24483848" y="17344696"/>
              <a:ext cx="11101552" cy="820737"/>
            </a:xfrm>
            <a:prstGeom prst="rect">
              <a:avLst/>
            </a:prstGeom>
            <a:gradFill flip="none" rotWithShape="1">
              <a:gsLst>
                <a:gs pos="0">
                  <a:schemeClr val="tx2">
                    <a:shade val="67500"/>
                    <a:satMod val="115000"/>
                    <a:shade val="30000"/>
                    <a:satMod val="115000"/>
                  </a:schemeClr>
                </a:gs>
                <a:gs pos="98000">
                  <a:schemeClr val="tx2">
                    <a:shade val="67500"/>
                    <a:satMod val="115000"/>
                    <a:shade val="67500"/>
                    <a:satMod val="115000"/>
                    <a:lumMod val="0"/>
                    <a:alpha val="6000"/>
                  </a:schemeClr>
                </a:gs>
              </a:gsLst>
              <a:path path="circle">
                <a:fillToRect r="100000" b="100000"/>
              </a:path>
              <a:tileRect l="-100000" t="-100000"/>
            </a:gradFill>
            <a:ln>
              <a:noFill/>
            </a:ln>
          </p:spPr>
          <p:txBody>
            <a:bodyPr>
              <a:spAutoFit/>
            </a:bodyPr>
            <a:lstStyle>
              <a:defPPr>
                <a:defRPr lang="en-US"/>
              </a:defPPr>
              <a:lvl1pPr>
                <a:defRPr sz="4000" b="1">
                  <a:solidFill>
                    <a:schemeClr val="bg1"/>
                  </a:solidFill>
                </a:defRPr>
              </a:lvl1pPr>
            </a:lstStyle>
            <a:p>
              <a:pPr>
                <a:defRPr/>
              </a:pPr>
              <a:r>
                <a:rPr lang="en-US" sz="4400" dirty="0"/>
                <a:t>(ACKNOWLEDGEMENTS</a:t>
              </a:r>
            </a:p>
          </p:txBody>
        </p:sp>
        <p:grpSp>
          <p:nvGrpSpPr>
            <p:cNvPr id="2083" name="Group 3"/>
            <p:cNvGrpSpPr>
              <a:grpSpLocks/>
            </p:cNvGrpSpPr>
            <p:nvPr/>
          </p:nvGrpSpPr>
          <p:grpSpPr bwMode="auto">
            <a:xfrm>
              <a:off x="990600" y="5715000"/>
              <a:ext cx="34518600" cy="22479000"/>
              <a:chOff x="1371600" y="5867400"/>
              <a:chExt cx="34518600" cy="22479000"/>
            </a:xfrm>
          </p:grpSpPr>
          <p:sp>
            <p:nvSpPr>
              <p:cNvPr id="2084" name="Rectangle 2"/>
              <p:cNvSpPr>
                <a:spLocks noChangeArrowheads="1"/>
              </p:cNvSpPr>
              <p:nvPr/>
            </p:nvSpPr>
            <p:spPr bwMode="auto">
              <a:xfrm>
                <a:off x="1371600" y="5867400"/>
                <a:ext cx="11049000" cy="10896600"/>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defTabSz="908050"/>
                <a:endParaRPr lang="en-US" dirty="0"/>
              </a:p>
            </p:txBody>
          </p:sp>
          <p:sp>
            <p:nvSpPr>
              <p:cNvPr id="2085" name="Rectangle 223"/>
              <p:cNvSpPr>
                <a:spLocks noChangeArrowheads="1"/>
              </p:cNvSpPr>
              <p:nvPr/>
            </p:nvSpPr>
            <p:spPr bwMode="auto">
              <a:xfrm>
                <a:off x="1371600" y="17449800"/>
                <a:ext cx="11049000" cy="10896600"/>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defTabSz="908050"/>
                <a:endParaRPr lang="en-US" dirty="0"/>
              </a:p>
            </p:txBody>
          </p:sp>
          <p:sp>
            <p:nvSpPr>
              <p:cNvPr id="2086" name="Rectangle 224"/>
              <p:cNvSpPr>
                <a:spLocks noChangeArrowheads="1"/>
              </p:cNvSpPr>
              <p:nvPr/>
            </p:nvSpPr>
            <p:spPr bwMode="auto">
              <a:xfrm>
                <a:off x="13068300" y="17449800"/>
                <a:ext cx="11049000" cy="10896600"/>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defTabSz="908050"/>
                <a:endParaRPr lang="en-US" dirty="0"/>
              </a:p>
            </p:txBody>
          </p:sp>
          <p:sp>
            <p:nvSpPr>
              <p:cNvPr id="2087" name="Rectangle 225"/>
              <p:cNvSpPr>
                <a:spLocks noChangeArrowheads="1"/>
              </p:cNvSpPr>
              <p:nvPr/>
            </p:nvSpPr>
            <p:spPr bwMode="auto">
              <a:xfrm>
                <a:off x="13068300" y="5867400"/>
                <a:ext cx="11049000" cy="10896600"/>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defTabSz="908050"/>
                <a:endParaRPr lang="en-US" dirty="0"/>
              </a:p>
            </p:txBody>
          </p:sp>
          <p:sp>
            <p:nvSpPr>
              <p:cNvPr id="2088" name="Rectangle 226"/>
              <p:cNvSpPr>
                <a:spLocks noChangeArrowheads="1"/>
              </p:cNvSpPr>
              <p:nvPr/>
            </p:nvSpPr>
            <p:spPr bwMode="auto">
              <a:xfrm>
                <a:off x="24841200" y="5867400"/>
                <a:ext cx="11049000" cy="10896600"/>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defTabSz="908050"/>
                <a:endParaRPr lang="en-US" dirty="0"/>
              </a:p>
            </p:txBody>
          </p:sp>
          <p:sp>
            <p:nvSpPr>
              <p:cNvPr id="2089" name="Rectangle 227"/>
              <p:cNvSpPr>
                <a:spLocks noChangeArrowheads="1"/>
              </p:cNvSpPr>
              <p:nvPr/>
            </p:nvSpPr>
            <p:spPr bwMode="auto">
              <a:xfrm>
                <a:off x="24841200" y="17449800"/>
                <a:ext cx="11049000" cy="10896600"/>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defTabSz="908050"/>
                <a:endParaRPr lang="en-US" dirty="0"/>
              </a:p>
            </p:txBody>
          </p:sp>
        </p:grpSp>
      </p:grpSp>
      <p:sp>
        <p:nvSpPr>
          <p:cNvPr id="2064" name="TextBox 10"/>
          <p:cNvSpPr txBox="1">
            <a:spLocks noChangeArrowheads="1"/>
          </p:cNvSpPr>
          <p:nvPr/>
        </p:nvSpPr>
        <p:spPr bwMode="auto">
          <a:xfrm>
            <a:off x="1379830" y="12602344"/>
            <a:ext cx="10645481"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000" b="1">
                <a:solidFill>
                  <a:srgbClr val="003399"/>
                </a:solidFill>
                <a:latin typeface="Arial" charset="0"/>
              </a:defRPr>
            </a:lvl1pPr>
            <a:lvl2pPr marL="742950" indent="-285750">
              <a:defRPr sz="4000" b="1">
                <a:solidFill>
                  <a:srgbClr val="003399"/>
                </a:solidFill>
                <a:latin typeface="Arial" charset="0"/>
              </a:defRPr>
            </a:lvl2pPr>
            <a:lvl3pPr marL="1143000" indent="-228600">
              <a:defRPr sz="4000" b="1">
                <a:solidFill>
                  <a:srgbClr val="003399"/>
                </a:solidFill>
                <a:latin typeface="Arial" charset="0"/>
              </a:defRPr>
            </a:lvl3pPr>
            <a:lvl4pPr marL="1600200" indent="-228600">
              <a:defRPr sz="4000" b="1">
                <a:solidFill>
                  <a:srgbClr val="003399"/>
                </a:solidFill>
                <a:latin typeface="Arial" charset="0"/>
              </a:defRPr>
            </a:lvl4pPr>
            <a:lvl5pPr marL="2057400" indent="-228600">
              <a:defRPr sz="4000" b="1">
                <a:solidFill>
                  <a:srgbClr val="003399"/>
                </a:solidFill>
                <a:latin typeface="Arial" charset="0"/>
              </a:defRPr>
            </a:lvl5pPr>
            <a:lvl6pPr marL="2514600" indent="-228600" eaLnBrk="0" fontAlgn="base" hangingPunct="0">
              <a:spcBef>
                <a:spcPct val="0"/>
              </a:spcBef>
              <a:spcAft>
                <a:spcPct val="0"/>
              </a:spcAft>
              <a:defRPr sz="4000" b="1">
                <a:solidFill>
                  <a:srgbClr val="003399"/>
                </a:solidFill>
                <a:latin typeface="Arial" charset="0"/>
              </a:defRPr>
            </a:lvl6pPr>
            <a:lvl7pPr marL="2971800" indent="-228600" eaLnBrk="0" fontAlgn="base" hangingPunct="0">
              <a:spcBef>
                <a:spcPct val="0"/>
              </a:spcBef>
              <a:spcAft>
                <a:spcPct val="0"/>
              </a:spcAft>
              <a:defRPr sz="4000" b="1">
                <a:solidFill>
                  <a:srgbClr val="003399"/>
                </a:solidFill>
                <a:latin typeface="Arial" charset="0"/>
              </a:defRPr>
            </a:lvl7pPr>
            <a:lvl8pPr marL="3429000" indent="-228600" eaLnBrk="0" fontAlgn="base" hangingPunct="0">
              <a:spcBef>
                <a:spcPct val="0"/>
              </a:spcBef>
              <a:spcAft>
                <a:spcPct val="0"/>
              </a:spcAft>
              <a:defRPr sz="4000" b="1">
                <a:solidFill>
                  <a:srgbClr val="003399"/>
                </a:solidFill>
                <a:latin typeface="Arial" charset="0"/>
              </a:defRPr>
            </a:lvl8pPr>
            <a:lvl9pPr marL="3886200" indent="-228600" eaLnBrk="0" fontAlgn="base" hangingPunct="0">
              <a:spcBef>
                <a:spcPct val="0"/>
              </a:spcBef>
              <a:spcAft>
                <a:spcPct val="0"/>
              </a:spcAft>
              <a:defRPr sz="4000" b="1">
                <a:solidFill>
                  <a:srgbClr val="003399"/>
                </a:solidFill>
                <a:latin typeface="Arial" charset="0"/>
              </a:defRPr>
            </a:lvl9pPr>
          </a:lstStyle>
          <a:p>
            <a:pPr marL="457200" indent="-457200">
              <a:buFont typeface="Wingdings" panose="05000000000000000000" pitchFamily="2" charset="2"/>
              <a:buChar char="Ø"/>
            </a:pPr>
            <a:r>
              <a:rPr lang="en-US" sz="3200" dirty="0"/>
              <a:t>The secondary purpose of this project is to provide a trendy, alternative option in wearables.</a:t>
            </a:r>
          </a:p>
          <a:p>
            <a:pPr marL="1200150" lvl="1" indent="-457200">
              <a:buFont typeface="Wingdings" panose="05000000000000000000" pitchFamily="2" charset="2"/>
              <a:buChar char="v"/>
            </a:pPr>
            <a:r>
              <a:rPr lang="en-US" sz="3200" dirty="0"/>
              <a:t>Made of safe, non-toxic materials</a:t>
            </a:r>
          </a:p>
          <a:p>
            <a:pPr marL="1200150" lvl="1" indent="-457200">
              <a:buFont typeface="Wingdings" panose="05000000000000000000" pitchFamily="2" charset="2"/>
              <a:buChar char="v"/>
            </a:pPr>
            <a:r>
              <a:rPr lang="en-US" sz="3200" dirty="0"/>
              <a:t>Lithium-ion rechargeable battery ()</a:t>
            </a:r>
          </a:p>
          <a:p>
            <a:pPr marL="1200150" lvl="1" indent="-457200">
              <a:buFont typeface="Wingdings" panose="05000000000000000000" pitchFamily="2" charset="2"/>
              <a:buChar char="v"/>
            </a:pPr>
            <a:r>
              <a:rPr lang="en-US" sz="3200" dirty="0"/>
              <a:t>Breakaway feature for safety precaution</a:t>
            </a:r>
          </a:p>
          <a:p>
            <a:pPr marL="1200150" lvl="1" indent="-457200">
              <a:buFont typeface="Wingdings" panose="05000000000000000000" pitchFamily="2" charset="2"/>
              <a:buChar char="v"/>
            </a:pPr>
            <a:endParaRPr lang="en-US" sz="3200" dirty="0"/>
          </a:p>
          <a:p>
            <a:pPr lvl="1" indent="0"/>
            <a:endParaRPr lang="en-US" sz="3200" dirty="0"/>
          </a:p>
        </p:txBody>
      </p:sp>
      <p:pic>
        <p:nvPicPr>
          <p:cNvPr id="3" name="Picture 2" descr="A picture containing text, clipart&#10;&#10;Description automatically generated">
            <a:extLst>
              <a:ext uri="{FF2B5EF4-FFF2-40B4-BE49-F238E27FC236}">
                <a16:creationId xmlns:a16="http://schemas.microsoft.com/office/drawing/2014/main" id="{1244D7B6-43AD-4BFB-80E5-3140A317C0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 y="1477328"/>
            <a:ext cx="5642429" cy="2057340"/>
          </a:xfrm>
          <a:prstGeom prst="rect">
            <a:avLst/>
          </a:prstGeom>
        </p:spPr>
      </p:pic>
      <p:sp>
        <p:nvSpPr>
          <p:cNvPr id="2" name="TextBox 10">
            <a:extLst>
              <a:ext uri="{FF2B5EF4-FFF2-40B4-BE49-F238E27FC236}">
                <a16:creationId xmlns:a16="http://schemas.microsoft.com/office/drawing/2014/main" id="{8B04C9C3-DC78-4236-5839-5A0108B25077}"/>
              </a:ext>
            </a:extLst>
          </p:cNvPr>
          <p:cNvSpPr txBox="1">
            <a:spLocks noChangeArrowheads="1"/>
          </p:cNvSpPr>
          <p:nvPr/>
        </p:nvSpPr>
        <p:spPr bwMode="auto">
          <a:xfrm>
            <a:off x="1379830" y="6707662"/>
            <a:ext cx="10735970" cy="550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000" b="1">
                <a:solidFill>
                  <a:srgbClr val="003399"/>
                </a:solidFill>
                <a:latin typeface="Arial" charset="0"/>
              </a:defRPr>
            </a:lvl1pPr>
            <a:lvl2pPr marL="742950" indent="-285750">
              <a:defRPr sz="4000" b="1">
                <a:solidFill>
                  <a:srgbClr val="003399"/>
                </a:solidFill>
                <a:latin typeface="Arial" charset="0"/>
              </a:defRPr>
            </a:lvl2pPr>
            <a:lvl3pPr marL="1143000" indent="-228600">
              <a:defRPr sz="4000" b="1">
                <a:solidFill>
                  <a:srgbClr val="003399"/>
                </a:solidFill>
                <a:latin typeface="Arial" charset="0"/>
              </a:defRPr>
            </a:lvl3pPr>
            <a:lvl4pPr marL="1600200" indent="-228600">
              <a:defRPr sz="4000" b="1">
                <a:solidFill>
                  <a:srgbClr val="003399"/>
                </a:solidFill>
                <a:latin typeface="Arial" charset="0"/>
              </a:defRPr>
            </a:lvl4pPr>
            <a:lvl5pPr marL="2057400" indent="-228600">
              <a:defRPr sz="4000" b="1">
                <a:solidFill>
                  <a:srgbClr val="003399"/>
                </a:solidFill>
                <a:latin typeface="Arial" charset="0"/>
              </a:defRPr>
            </a:lvl5pPr>
            <a:lvl6pPr marL="2514600" indent="-228600" eaLnBrk="0" fontAlgn="base" hangingPunct="0">
              <a:spcBef>
                <a:spcPct val="0"/>
              </a:spcBef>
              <a:spcAft>
                <a:spcPct val="0"/>
              </a:spcAft>
              <a:defRPr sz="4000" b="1">
                <a:solidFill>
                  <a:srgbClr val="003399"/>
                </a:solidFill>
                <a:latin typeface="Arial" charset="0"/>
              </a:defRPr>
            </a:lvl6pPr>
            <a:lvl7pPr marL="2971800" indent="-228600" eaLnBrk="0" fontAlgn="base" hangingPunct="0">
              <a:spcBef>
                <a:spcPct val="0"/>
              </a:spcBef>
              <a:spcAft>
                <a:spcPct val="0"/>
              </a:spcAft>
              <a:defRPr sz="4000" b="1">
                <a:solidFill>
                  <a:srgbClr val="003399"/>
                </a:solidFill>
                <a:latin typeface="Arial" charset="0"/>
              </a:defRPr>
            </a:lvl7pPr>
            <a:lvl8pPr marL="3429000" indent="-228600" eaLnBrk="0" fontAlgn="base" hangingPunct="0">
              <a:spcBef>
                <a:spcPct val="0"/>
              </a:spcBef>
              <a:spcAft>
                <a:spcPct val="0"/>
              </a:spcAft>
              <a:defRPr sz="4000" b="1">
                <a:solidFill>
                  <a:srgbClr val="003399"/>
                </a:solidFill>
                <a:latin typeface="Arial" charset="0"/>
              </a:defRPr>
            </a:lvl8pPr>
            <a:lvl9pPr marL="3886200" indent="-228600" eaLnBrk="0" fontAlgn="base" hangingPunct="0">
              <a:spcBef>
                <a:spcPct val="0"/>
              </a:spcBef>
              <a:spcAft>
                <a:spcPct val="0"/>
              </a:spcAft>
              <a:defRPr sz="4000" b="1">
                <a:solidFill>
                  <a:srgbClr val="003399"/>
                </a:solidFill>
                <a:latin typeface="Arial" charset="0"/>
              </a:defRPr>
            </a:lvl9pPr>
          </a:lstStyle>
          <a:p>
            <a:pPr marL="457200" indent="-457200">
              <a:buFont typeface="Wingdings" panose="05000000000000000000" pitchFamily="2" charset="2"/>
              <a:buChar char="Ø"/>
            </a:pPr>
            <a:r>
              <a:rPr lang="en-US" sz="3200" dirty="0"/>
              <a:t>The device is intended to be the first “smart necklace” on the consumer market. </a:t>
            </a:r>
          </a:p>
          <a:p>
            <a:pPr marL="1200150" lvl="1" indent="-457200">
              <a:buFont typeface="Wingdings" panose="05000000000000000000" pitchFamily="2" charset="2"/>
              <a:buChar char="v"/>
            </a:pPr>
            <a:r>
              <a:rPr lang="en-US" sz="3200" dirty="0"/>
              <a:t>The apparatus is worn around the neck</a:t>
            </a:r>
          </a:p>
          <a:p>
            <a:pPr marL="1200150" lvl="1" indent="-457200">
              <a:buFont typeface="Wingdings" panose="05000000000000000000" pitchFamily="2" charset="2"/>
              <a:buChar char="v"/>
            </a:pPr>
            <a:r>
              <a:rPr lang="en-US" sz="3200" dirty="0"/>
              <a:t> Its sensors collect and stream data in real time from the device to an iOS app. </a:t>
            </a:r>
          </a:p>
          <a:p>
            <a:pPr lvl="1" indent="0"/>
            <a:endParaRPr lang="en-US" sz="3200" dirty="0"/>
          </a:p>
          <a:p>
            <a:pPr marL="457200" indent="-457200">
              <a:buFont typeface="Wingdings" panose="05000000000000000000" pitchFamily="2" charset="2"/>
              <a:buChar char="Ø"/>
            </a:pPr>
            <a:r>
              <a:rPr lang="en-US" sz="3200" dirty="0"/>
              <a:t>Provides health notifications for three specific vital signs:</a:t>
            </a:r>
          </a:p>
          <a:p>
            <a:pPr marL="1200150" lvl="1" indent="-457200">
              <a:buFont typeface="Wingdings" panose="05000000000000000000" pitchFamily="2" charset="2"/>
              <a:buChar char="v"/>
            </a:pPr>
            <a:r>
              <a:rPr lang="en-US" sz="3200" dirty="0"/>
              <a:t>Heart Rate (beats per minute)</a:t>
            </a:r>
          </a:p>
          <a:p>
            <a:pPr marL="1200150" lvl="1" indent="-457200">
              <a:buFont typeface="Wingdings" panose="05000000000000000000" pitchFamily="2" charset="2"/>
              <a:buChar char="v"/>
            </a:pPr>
            <a:r>
              <a:rPr lang="en-US" sz="3200" dirty="0"/>
              <a:t>Blood Oxygen Saturation (%)</a:t>
            </a:r>
          </a:p>
          <a:p>
            <a:pPr marL="1200150" lvl="1" indent="-457200">
              <a:buFont typeface="Wingdings" panose="05000000000000000000" pitchFamily="2" charset="2"/>
              <a:buChar char="v"/>
            </a:pPr>
            <a:r>
              <a:rPr lang="en-US" sz="3200" dirty="0"/>
              <a:t>Core Temperature (Celsius/Fahrenheit)</a:t>
            </a:r>
          </a:p>
        </p:txBody>
      </p:sp>
      <p:sp>
        <p:nvSpPr>
          <p:cNvPr id="11" name="TextBox 10">
            <a:extLst>
              <a:ext uri="{FF2B5EF4-FFF2-40B4-BE49-F238E27FC236}">
                <a16:creationId xmlns:a16="http://schemas.microsoft.com/office/drawing/2014/main" id="{A74FD995-2013-ABC7-90F3-ED787B3DCBE9}"/>
              </a:ext>
            </a:extLst>
          </p:cNvPr>
          <p:cNvSpPr txBox="1"/>
          <p:nvPr/>
        </p:nvSpPr>
        <p:spPr>
          <a:xfrm>
            <a:off x="30630494" y="6734046"/>
            <a:ext cx="6497409" cy="5509200"/>
          </a:xfrm>
          <a:prstGeom prst="rect">
            <a:avLst/>
          </a:prstGeom>
          <a:noFill/>
        </p:spPr>
        <p:txBody>
          <a:bodyPr wrap="square" rtlCol="0">
            <a:spAutoFit/>
          </a:bodyPr>
          <a:lstStyle/>
          <a:p>
            <a:pPr marL="571500" indent="-571500">
              <a:buFont typeface="Wingdings" panose="05000000000000000000" pitchFamily="2" charset="2"/>
              <a:buChar char="Ø"/>
            </a:pPr>
            <a:r>
              <a:rPr lang="en-US" sz="3200" dirty="0"/>
              <a:t>Figure 1 is the block diagram representing the hardware and software processes</a:t>
            </a:r>
          </a:p>
          <a:p>
            <a:pPr marL="571500" indent="-571500">
              <a:buFont typeface="Wingdings" panose="05000000000000000000" pitchFamily="2" charset="2"/>
              <a:buChar char="Ø"/>
            </a:pPr>
            <a:r>
              <a:rPr lang="en-US" sz="3200" dirty="0"/>
              <a:t>Figure(s) 2 and 3 are the final device prototype</a:t>
            </a:r>
          </a:p>
          <a:p>
            <a:pPr marL="457200" indent="-457200">
              <a:buFont typeface="Wingdings" panose="05000000000000000000" pitchFamily="2" charset="2"/>
              <a:buChar char="Ø"/>
            </a:pPr>
            <a:r>
              <a:rPr lang="en-US" sz="3200" dirty="0"/>
              <a:t>UUIDs for firmware and React Native framework bridge hardware and software together via Bluetooth connectivity. </a:t>
            </a:r>
          </a:p>
          <a:p>
            <a:pPr marL="571500" indent="-571500">
              <a:buFont typeface="Wingdings" panose="05000000000000000000" pitchFamily="2" charset="2"/>
              <a:buChar char="Ø"/>
            </a:pPr>
            <a:endParaRPr lang="en-US" sz="3200" dirty="0"/>
          </a:p>
        </p:txBody>
      </p:sp>
      <p:sp>
        <p:nvSpPr>
          <p:cNvPr id="39" name="TextBox 38">
            <a:extLst>
              <a:ext uri="{FF2B5EF4-FFF2-40B4-BE49-F238E27FC236}">
                <a16:creationId xmlns:a16="http://schemas.microsoft.com/office/drawing/2014/main" id="{841B1CAF-2AC6-D8E2-31B4-1491B22A09A5}"/>
              </a:ext>
            </a:extLst>
          </p:cNvPr>
          <p:cNvSpPr txBox="1"/>
          <p:nvPr/>
        </p:nvSpPr>
        <p:spPr>
          <a:xfrm>
            <a:off x="26060400" y="6666853"/>
            <a:ext cx="5210175" cy="707886"/>
          </a:xfrm>
          <a:prstGeom prst="rect">
            <a:avLst/>
          </a:prstGeom>
          <a:noFill/>
        </p:spPr>
        <p:txBody>
          <a:bodyPr wrap="square" rtlCol="0">
            <a:spAutoFit/>
          </a:bodyPr>
          <a:lstStyle/>
          <a:p>
            <a:endParaRPr lang="en-US" dirty="0"/>
          </a:p>
        </p:txBody>
      </p:sp>
      <p:sp>
        <p:nvSpPr>
          <p:cNvPr id="227" name="Rectangle 113">
            <a:extLst>
              <a:ext uri="{FF2B5EF4-FFF2-40B4-BE49-F238E27FC236}">
                <a16:creationId xmlns:a16="http://schemas.microsoft.com/office/drawing/2014/main" id="{C60D9A49-7BA7-3E25-1B4F-D1E9A7E2B638}"/>
              </a:ext>
            </a:extLst>
          </p:cNvPr>
          <p:cNvSpPr>
            <a:spLocks noChangeArrowheads="1"/>
          </p:cNvSpPr>
          <p:nvPr/>
        </p:nvSpPr>
        <p:spPr bwMode="auto">
          <a:xfrm>
            <a:off x="0" y="0"/>
            <a:ext cx="384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pic>
        <p:nvPicPr>
          <p:cNvPr id="229" name="Picture 228">
            <a:extLst>
              <a:ext uri="{FF2B5EF4-FFF2-40B4-BE49-F238E27FC236}">
                <a16:creationId xmlns:a16="http://schemas.microsoft.com/office/drawing/2014/main" id="{7CD868DC-DE81-9C28-167A-5D5125CC37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226244" y="6522996"/>
            <a:ext cx="4452422" cy="5184198"/>
          </a:xfrm>
          <a:prstGeom prst="rect">
            <a:avLst/>
          </a:prstGeom>
        </p:spPr>
      </p:pic>
      <p:pic>
        <p:nvPicPr>
          <p:cNvPr id="234" name="Picture 233">
            <a:extLst>
              <a:ext uri="{FF2B5EF4-FFF2-40B4-BE49-F238E27FC236}">
                <a16:creationId xmlns:a16="http://schemas.microsoft.com/office/drawing/2014/main" id="{E567C184-8980-6628-81C2-F4916EDAAF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554210" y="7225147"/>
            <a:ext cx="5345220" cy="7207761"/>
          </a:xfrm>
          <a:prstGeom prst="rect">
            <a:avLst/>
          </a:prstGeom>
        </p:spPr>
      </p:pic>
      <p:pic>
        <p:nvPicPr>
          <p:cNvPr id="236" name="Picture 235" descr="A screenshot of a cell phone&#10;&#10;AI-generated content may be incorrect.">
            <a:extLst>
              <a:ext uri="{FF2B5EF4-FFF2-40B4-BE49-F238E27FC236}">
                <a16:creationId xmlns:a16="http://schemas.microsoft.com/office/drawing/2014/main" id="{FD5136EC-FE51-476A-382A-87137A9CBEA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217446" y="6782011"/>
            <a:ext cx="1005840" cy="1781604"/>
          </a:xfrm>
          <a:prstGeom prst="rect">
            <a:avLst/>
          </a:prstGeom>
          <a:ln>
            <a:solidFill>
              <a:schemeClr val="tx1"/>
            </a:solidFill>
          </a:ln>
        </p:spPr>
      </p:pic>
      <p:graphicFrame>
        <p:nvGraphicFramePr>
          <p:cNvPr id="237" name="Table 236">
            <a:extLst>
              <a:ext uri="{FF2B5EF4-FFF2-40B4-BE49-F238E27FC236}">
                <a16:creationId xmlns:a16="http://schemas.microsoft.com/office/drawing/2014/main" id="{0CECA9C5-CBEE-A6AC-B700-543D39B23314}"/>
              </a:ext>
            </a:extLst>
          </p:cNvPr>
          <p:cNvGraphicFramePr>
            <a:graphicFrameLocks noGrp="1"/>
          </p:cNvGraphicFramePr>
          <p:nvPr>
            <p:extLst>
              <p:ext uri="{D42A27DB-BD31-4B8C-83A1-F6EECF244321}">
                <p14:modId xmlns:p14="http://schemas.microsoft.com/office/powerpoint/2010/main" val="4014026369"/>
              </p:ext>
            </p:extLst>
          </p:nvPr>
        </p:nvGraphicFramePr>
        <p:xfrm>
          <a:off x="18363008" y="18242066"/>
          <a:ext cx="6324599" cy="2155554"/>
        </p:xfrm>
        <a:graphic>
          <a:graphicData uri="http://schemas.openxmlformats.org/drawingml/2006/table">
            <a:tbl>
              <a:tblPr firstRow="1" firstCol="1" bandRow="1">
                <a:tableStyleId>{5C22544A-7EE6-4342-B048-85BDC9FD1C3A}</a:tableStyleId>
              </a:tblPr>
              <a:tblGrid>
                <a:gridCol w="1853325">
                  <a:extLst>
                    <a:ext uri="{9D8B030D-6E8A-4147-A177-3AD203B41FA5}">
                      <a16:colId xmlns:a16="http://schemas.microsoft.com/office/drawing/2014/main" val="3018000271"/>
                    </a:ext>
                  </a:extLst>
                </a:gridCol>
                <a:gridCol w="1448727">
                  <a:extLst>
                    <a:ext uri="{9D8B030D-6E8A-4147-A177-3AD203B41FA5}">
                      <a16:colId xmlns:a16="http://schemas.microsoft.com/office/drawing/2014/main" val="27665940"/>
                    </a:ext>
                  </a:extLst>
                </a:gridCol>
                <a:gridCol w="1444754">
                  <a:extLst>
                    <a:ext uri="{9D8B030D-6E8A-4147-A177-3AD203B41FA5}">
                      <a16:colId xmlns:a16="http://schemas.microsoft.com/office/drawing/2014/main" val="4109792810"/>
                    </a:ext>
                  </a:extLst>
                </a:gridCol>
                <a:gridCol w="1577793">
                  <a:extLst>
                    <a:ext uri="{9D8B030D-6E8A-4147-A177-3AD203B41FA5}">
                      <a16:colId xmlns:a16="http://schemas.microsoft.com/office/drawing/2014/main" val="2197894326"/>
                    </a:ext>
                  </a:extLst>
                </a:gridCol>
              </a:tblGrid>
              <a:tr h="591495">
                <a:tc>
                  <a:txBody>
                    <a:bodyPr/>
                    <a:lstStyle/>
                    <a:p>
                      <a:pPr marL="0" marR="0">
                        <a:lnSpc>
                          <a:spcPct val="150000"/>
                        </a:lnSpc>
                        <a:buNone/>
                      </a:pPr>
                      <a:r>
                        <a:rPr lang="en-US" sz="1400" kern="100" dirty="0">
                          <a:effectLst/>
                          <a:latin typeface="+mn-lt"/>
                        </a:rPr>
                        <a:t> </a:t>
                      </a:r>
                      <a:endParaRPr lang="en-US" sz="1400" kern="100" dirty="0">
                        <a:effectLst/>
                        <a:latin typeface="+mn-lt"/>
                        <a:ea typeface="Times New Roman" panose="02020603050405020304" pitchFamily="18" charset="0"/>
                      </a:endParaRPr>
                    </a:p>
                  </a:txBody>
                  <a:tcPr marL="152757" marR="152757" marT="0" marB="0">
                    <a:solidFill>
                      <a:srgbClr val="003399"/>
                    </a:solidFill>
                  </a:tcPr>
                </a:tc>
                <a:tc>
                  <a:txBody>
                    <a:bodyPr/>
                    <a:lstStyle/>
                    <a:p>
                      <a:pPr marL="0" marR="0" algn="ctr">
                        <a:lnSpc>
                          <a:spcPct val="150000"/>
                        </a:lnSpc>
                        <a:buNone/>
                      </a:pPr>
                      <a:r>
                        <a:rPr lang="en-US" sz="1400" kern="100" dirty="0">
                          <a:effectLst/>
                          <a:latin typeface="Arial" panose="020B0604020202020204" pitchFamily="34" charset="0"/>
                          <a:cs typeface="Arial" panose="020B0604020202020204" pitchFamily="34" charset="0"/>
                        </a:rPr>
                        <a:t> </a:t>
                      </a:r>
                    </a:p>
                    <a:p>
                      <a:pPr marL="0" marR="0" algn="ctr">
                        <a:lnSpc>
                          <a:spcPct val="150000"/>
                        </a:lnSpc>
                        <a:buNone/>
                      </a:pPr>
                      <a:r>
                        <a:rPr lang="en-US" sz="1400" kern="100" dirty="0">
                          <a:effectLst/>
                          <a:latin typeface="Arial" panose="020B0604020202020204" pitchFamily="34" charset="0"/>
                          <a:cs typeface="Arial" panose="020B0604020202020204" pitchFamily="34" charset="0"/>
                        </a:rPr>
                        <a:t>Experimental</a:t>
                      </a:r>
                      <a:endParaRPr lang="en-US" sz="1400" kern="100" dirty="0">
                        <a:effectLst/>
                        <a:latin typeface="Arial" panose="020B0604020202020204" pitchFamily="34" charset="0"/>
                        <a:ea typeface="Times New Roman" panose="02020603050405020304" pitchFamily="18" charset="0"/>
                        <a:cs typeface="Arial" panose="020B0604020202020204" pitchFamily="34" charset="0"/>
                      </a:endParaRPr>
                    </a:p>
                  </a:txBody>
                  <a:tcPr marL="152757" marR="152757" marT="0" marB="0">
                    <a:solidFill>
                      <a:srgbClr val="003399"/>
                    </a:solidFill>
                  </a:tcPr>
                </a:tc>
                <a:tc>
                  <a:txBody>
                    <a:bodyPr/>
                    <a:lstStyle/>
                    <a:p>
                      <a:pPr marL="0" marR="0" algn="ctr">
                        <a:lnSpc>
                          <a:spcPct val="150000"/>
                        </a:lnSpc>
                        <a:buNone/>
                      </a:pPr>
                      <a:r>
                        <a:rPr lang="en-US" sz="1400" kern="100" dirty="0">
                          <a:effectLst/>
                          <a:latin typeface="Arial" panose="020B0604020202020204" pitchFamily="34" charset="0"/>
                          <a:cs typeface="Arial" panose="020B0604020202020204" pitchFamily="34" charset="0"/>
                        </a:rPr>
                        <a:t> </a:t>
                      </a:r>
                    </a:p>
                    <a:p>
                      <a:pPr marL="0" marR="0" algn="ctr">
                        <a:lnSpc>
                          <a:spcPct val="150000"/>
                        </a:lnSpc>
                        <a:buNone/>
                      </a:pPr>
                      <a:r>
                        <a:rPr lang="en-US" sz="1400" kern="100" dirty="0">
                          <a:effectLst/>
                          <a:latin typeface="Arial" panose="020B0604020202020204" pitchFamily="34" charset="0"/>
                          <a:cs typeface="Arial" panose="020B0604020202020204" pitchFamily="34" charset="0"/>
                        </a:rPr>
                        <a:t>Actual</a:t>
                      </a:r>
                      <a:endParaRPr lang="en-US" sz="1400" kern="100" dirty="0">
                        <a:effectLst/>
                        <a:latin typeface="Arial" panose="020B0604020202020204" pitchFamily="34" charset="0"/>
                        <a:ea typeface="Times New Roman" panose="02020603050405020304" pitchFamily="18" charset="0"/>
                        <a:cs typeface="Arial" panose="020B0604020202020204" pitchFamily="34" charset="0"/>
                      </a:endParaRPr>
                    </a:p>
                  </a:txBody>
                  <a:tcPr marL="152757" marR="152757" marT="0" marB="0">
                    <a:solidFill>
                      <a:srgbClr val="003399"/>
                    </a:solidFill>
                  </a:tcPr>
                </a:tc>
                <a:tc>
                  <a:txBody>
                    <a:bodyPr/>
                    <a:lstStyle/>
                    <a:p>
                      <a:pPr marL="0" marR="0" algn="ctr">
                        <a:lnSpc>
                          <a:spcPct val="150000"/>
                        </a:lnSpc>
                        <a:buNone/>
                      </a:pPr>
                      <a:r>
                        <a:rPr lang="en-US" sz="1400" kern="100" dirty="0">
                          <a:effectLst/>
                          <a:latin typeface="Arial" panose="020B0604020202020204" pitchFamily="34" charset="0"/>
                          <a:cs typeface="Arial" panose="020B0604020202020204" pitchFamily="34" charset="0"/>
                        </a:rPr>
                        <a:t> </a:t>
                      </a:r>
                    </a:p>
                    <a:p>
                      <a:pPr marL="0" marR="0" algn="ctr">
                        <a:lnSpc>
                          <a:spcPct val="150000"/>
                        </a:lnSpc>
                        <a:buNone/>
                      </a:pPr>
                      <a:r>
                        <a:rPr lang="en-US" sz="1400" kern="100" dirty="0">
                          <a:effectLst/>
                          <a:latin typeface="Arial" panose="020B0604020202020204" pitchFamily="34" charset="0"/>
                          <a:cs typeface="Arial" panose="020B0604020202020204" pitchFamily="34" charset="0"/>
                        </a:rPr>
                        <a:t>Percent Error</a:t>
                      </a:r>
                      <a:endParaRPr lang="en-US" sz="1400" kern="100" dirty="0">
                        <a:effectLst/>
                        <a:latin typeface="Arial" panose="020B0604020202020204" pitchFamily="34" charset="0"/>
                        <a:ea typeface="Times New Roman" panose="02020603050405020304" pitchFamily="18" charset="0"/>
                        <a:cs typeface="Arial" panose="020B0604020202020204" pitchFamily="34" charset="0"/>
                      </a:endParaRPr>
                    </a:p>
                  </a:txBody>
                  <a:tcPr marL="152757" marR="152757" marT="0" marB="0">
                    <a:solidFill>
                      <a:srgbClr val="003399"/>
                    </a:solidFill>
                  </a:tcPr>
                </a:tc>
                <a:extLst>
                  <a:ext uri="{0D108BD9-81ED-4DB2-BD59-A6C34878D82A}">
                    <a16:rowId xmlns:a16="http://schemas.microsoft.com/office/drawing/2014/main" val="1794535944"/>
                  </a:ext>
                </a:extLst>
              </a:tr>
              <a:tr h="453201">
                <a:tc>
                  <a:txBody>
                    <a:bodyPr/>
                    <a:lstStyle/>
                    <a:p>
                      <a:pPr marL="0" marR="0">
                        <a:lnSpc>
                          <a:spcPct val="150000"/>
                        </a:lnSpc>
                        <a:buNone/>
                      </a:pPr>
                      <a:r>
                        <a:rPr lang="en-US" sz="1400" kern="100" dirty="0">
                          <a:effectLst/>
                          <a:latin typeface="Arial" panose="020B0604020202020204" pitchFamily="34" charset="0"/>
                          <a:cs typeface="Arial" panose="020B0604020202020204" pitchFamily="34" charset="0"/>
                        </a:rPr>
                        <a:t>Heart Rate (bpm)</a:t>
                      </a:r>
                      <a:endParaRPr lang="en-US" sz="1400" kern="100" dirty="0">
                        <a:effectLst/>
                        <a:latin typeface="Arial" panose="020B0604020202020204" pitchFamily="34" charset="0"/>
                        <a:ea typeface="Times New Roman" panose="02020603050405020304" pitchFamily="18" charset="0"/>
                        <a:cs typeface="Arial" panose="020B0604020202020204" pitchFamily="34" charset="0"/>
                      </a:endParaRPr>
                    </a:p>
                  </a:txBody>
                  <a:tcPr marL="152757" marR="152757" marT="0" marB="0">
                    <a:solidFill>
                      <a:srgbClr val="003399"/>
                    </a:solidFill>
                  </a:tcPr>
                </a:tc>
                <a:tc>
                  <a:txBody>
                    <a:bodyPr/>
                    <a:lstStyle/>
                    <a:p>
                      <a:pPr marL="0" marR="0" algn="ctr">
                        <a:lnSpc>
                          <a:spcPct val="150000"/>
                        </a:lnSpc>
                        <a:buNone/>
                      </a:pPr>
                      <a:r>
                        <a:rPr lang="en-US" sz="1400" kern="100" dirty="0">
                          <a:effectLst/>
                          <a:latin typeface="Arial" panose="020B0604020202020204" pitchFamily="34" charset="0"/>
                          <a:ea typeface="Times New Roman" panose="02020603050405020304" pitchFamily="18" charset="0"/>
                          <a:cs typeface="Arial" panose="020B0604020202020204" pitchFamily="34" charset="0"/>
                        </a:rPr>
                        <a:t>57.67</a:t>
                      </a:r>
                    </a:p>
                  </a:txBody>
                  <a:tcPr marL="152757" marR="152757" marT="0" marB="0">
                    <a:solidFill>
                      <a:srgbClr val="EAEAEA"/>
                    </a:solidFill>
                  </a:tcPr>
                </a:tc>
                <a:tc>
                  <a:txBody>
                    <a:bodyPr/>
                    <a:lstStyle/>
                    <a:p>
                      <a:pPr marL="0" marR="0" algn="ctr">
                        <a:lnSpc>
                          <a:spcPct val="150000"/>
                        </a:lnSpc>
                        <a:buNone/>
                      </a:pPr>
                      <a:r>
                        <a:rPr lang="en-US" sz="1400" kern="100" dirty="0">
                          <a:effectLst/>
                          <a:latin typeface="Arial" panose="020B0604020202020204" pitchFamily="34" charset="0"/>
                          <a:ea typeface="Times New Roman" panose="02020603050405020304" pitchFamily="18" charset="0"/>
                          <a:cs typeface="Arial" panose="020B0604020202020204" pitchFamily="34" charset="0"/>
                        </a:rPr>
                        <a:t>61.40</a:t>
                      </a:r>
                    </a:p>
                  </a:txBody>
                  <a:tcPr marL="152757" marR="152757" marT="0" marB="0">
                    <a:solidFill>
                      <a:srgbClr val="EAEAEA"/>
                    </a:solidFill>
                  </a:tcPr>
                </a:tc>
                <a:tc>
                  <a:txBody>
                    <a:bodyPr/>
                    <a:lstStyle/>
                    <a:p>
                      <a:pPr marL="0" marR="0" algn="ctr">
                        <a:lnSpc>
                          <a:spcPct val="150000"/>
                        </a:lnSpc>
                        <a:buNone/>
                      </a:pPr>
                      <a:r>
                        <a:rPr lang="en-US" sz="1400" kern="100" dirty="0">
                          <a:effectLst/>
                          <a:latin typeface="Arial" panose="020B0604020202020204" pitchFamily="34" charset="0"/>
                          <a:ea typeface="Times New Roman" panose="02020603050405020304" pitchFamily="18" charset="0"/>
                          <a:cs typeface="Arial" panose="020B0604020202020204" pitchFamily="34" charset="0"/>
                        </a:rPr>
                        <a:t>6.07%</a:t>
                      </a:r>
                    </a:p>
                  </a:txBody>
                  <a:tcPr marL="152757" marR="152757" marT="0" marB="0">
                    <a:solidFill>
                      <a:srgbClr val="EAEAEA"/>
                    </a:solidFill>
                  </a:tcPr>
                </a:tc>
                <a:extLst>
                  <a:ext uri="{0D108BD9-81ED-4DB2-BD59-A6C34878D82A}">
                    <a16:rowId xmlns:a16="http://schemas.microsoft.com/office/drawing/2014/main" val="1110541961"/>
                  </a:ext>
                </a:extLst>
              </a:tr>
              <a:tr h="591495">
                <a:tc>
                  <a:txBody>
                    <a:bodyPr/>
                    <a:lstStyle/>
                    <a:p>
                      <a:pPr marL="0" marR="0">
                        <a:lnSpc>
                          <a:spcPct val="150000"/>
                        </a:lnSpc>
                        <a:buNone/>
                      </a:pPr>
                      <a:r>
                        <a:rPr lang="en-US" sz="1400" kern="100" dirty="0">
                          <a:effectLst/>
                          <a:latin typeface="Arial" panose="020B0604020202020204" pitchFamily="34" charset="0"/>
                          <a:cs typeface="Arial" panose="020B0604020202020204" pitchFamily="34" charset="0"/>
                        </a:rPr>
                        <a:t>Core Temperature F(C)</a:t>
                      </a:r>
                      <a:endParaRPr lang="en-US" sz="1400" kern="100" dirty="0">
                        <a:effectLst/>
                        <a:latin typeface="Arial" panose="020B0604020202020204" pitchFamily="34" charset="0"/>
                        <a:ea typeface="Times New Roman" panose="02020603050405020304" pitchFamily="18" charset="0"/>
                        <a:cs typeface="Arial" panose="020B0604020202020204" pitchFamily="34" charset="0"/>
                      </a:endParaRPr>
                    </a:p>
                  </a:txBody>
                  <a:tcPr marL="152757" marR="152757" marT="0" marB="0">
                    <a:solidFill>
                      <a:srgbClr val="003399"/>
                    </a:solidFill>
                  </a:tcPr>
                </a:tc>
                <a:tc>
                  <a:txBody>
                    <a:bodyPr/>
                    <a:lstStyle/>
                    <a:p>
                      <a:pPr marL="0" marR="0" algn="ctr">
                        <a:lnSpc>
                          <a:spcPct val="150000"/>
                        </a:lnSpc>
                        <a:buNone/>
                      </a:pPr>
                      <a:r>
                        <a:rPr lang="en-US" sz="1400" kern="100" dirty="0">
                          <a:effectLst/>
                          <a:latin typeface="Arial" panose="020B0604020202020204" pitchFamily="34" charset="0"/>
                          <a:ea typeface="Times New Roman" panose="02020603050405020304" pitchFamily="18" charset="0"/>
                          <a:cs typeface="Arial" panose="020B0604020202020204" pitchFamily="34" charset="0"/>
                        </a:rPr>
                        <a:t>99.32(37.40)</a:t>
                      </a:r>
                    </a:p>
                  </a:txBody>
                  <a:tcPr marL="152757" marR="152757" marT="0" marB="0">
                    <a:solidFill>
                      <a:srgbClr val="F8F8F8"/>
                    </a:solidFill>
                  </a:tcPr>
                </a:tc>
                <a:tc>
                  <a:txBody>
                    <a:bodyPr/>
                    <a:lstStyle/>
                    <a:p>
                      <a:pPr marL="0" marR="0" algn="ctr">
                        <a:lnSpc>
                          <a:spcPct val="150000"/>
                        </a:lnSpc>
                        <a:buNone/>
                      </a:pPr>
                      <a:r>
                        <a:rPr lang="en-US" sz="1400" kern="100" dirty="0">
                          <a:effectLst/>
                          <a:latin typeface="Arial" panose="020B0604020202020204" pitchFamily="34" charset="0"/>
                          <a:ea typeface="Times New Roman" panose="02020603050405020304" pitchFamily="18" charset="0"/>
                          <a:cs typeface="Arial" panose="020B0604020202020204" pitchFamily="34" charset="0"/>
                        </a:rPr>
                        <a:t>97.22(36.23)</a:t>
                      </a:r>
                    </a:p>
                  </a:txBody>
                  <a:tcPr marL="152757" marR="152757" marT="0" marB="0">
                    <a:solidFill>
                      <a:srgbClr val="F8F8F8"/>
                    </a:solidFill>
                  </a:tcPr>
                </a:tc>
                <a:tc>
                  <a:txBody>
                    <a:bodyPr/>
                    <a:lstStyle/>
                    <a:p>
                      <a:pPr marL="0" marR="0" algn="ctr">
                        <a:lnSpc>
                          <a:spcPct val="150000"/>
                        </a:lnSpc>
                        <a:buNone/>
                      </a:pPr>
                      <a:r>
                        <a:rPr lang="en-US" sz="1400" kern="100" dirty="0">
                          <a:effectLst/>
                          <a:latin typeface="Arial" panose="020B0604020202020204" pitchFamily="34" charset="0"/>
                          <a:ea typeface="Times New Roman" panose="02020603050405020304" pitchFamily="18" charset="0"/>
                          <a:cs typeface="Arial" panose="020B0604020202020204" pitchFamily="34" charset="0"/>
                        </a:rPr>
                        <a:t>2.16%</a:t>
                      </a:r>
                    </a:p>
                  </a:txBody>
                  <a:tcPr marL="152757" marR="152757" marT="0" marB="0">
                    <a:solidFill>
                      <a:srgbClr val="F8F8F8"/>
                    </a:solidFill>
                  </a:tcPr>
                </a:tc>
                <a:extLst>
                  <a:ext uri="{0D108BD9-81ED-4DB2-BD59-A6C34878D82A}">
                    <a16:rowId xmlns:a16="http://schemas.microsoft.com/office/drawing/2014/main" val="3603551874"/>
                  </a:ext>
                </a:extLst>
              </a:tr>
              <a:tr h="501313">
                <a:tc>
                  <a:txBody>
                    <a:bodyPr/>
                    <a:lstStyle/>
                    <a:p>
                      <a:pPr marL="0" marR="0">
                        <a:lnSpc>
                          <a:spcPct val="150000"/>
                        </a:lnSpc>
                        <a:buNone/>
                      </a:pPr>
                      <a:r>
                        <a:rPr lang="en-US" sz="1400" kern="100" dirty="0">
                          <a:effectLst/>
                          <a:latin typeface="Arial" panose="020B0604020202020204" pitchFamily="34" charset="0"/>
                          <a:cs typeface="Arial" panose="020B0604020202020204" pitchFamily="34" charset="0"/>
                        </a:rPr>
                        <a:t>Blood Oxygen (%)</a:t>
                      </a:r>
                      <a:endParaRPr lang="en-US" sz="1400" kern="100" dirty="0">
                        <a:effectLst/>
                        <a:latin typeface="Arial" panose="020B0604020202020204" pitchFamily="34" charset="0"/>
                        <a:ea typeface="Times New Roman" panose="02020603050405020304" pitchFamily="18" charset="0"/>
                        <a:cs typeface="Arial" panose="020B0604020202020204" pitchFamily="34" charset="0"/>
                      </a:endParaRPr>
                    </a:p>
                  </a:txBody>
                  <a:tcPr marL="152757" marR="152757" marT="0" marB="0">
                    <a:solidFill>
                      <a:srgbClr val="003399"/>
                    </a:solidFill>
                  </a:tcPr>
                </a:tc>
                <a:tc>
                  <a:txBody>
                    <a:bodyPr/>
                    <a:lstStyle/>
                    <a:p>
                      <a:pPr marL="0" marR="0" algn="ctr">
                        <a:lnSpc>
                          <a:spcPct val="150000"/>
                        </a:lnSpc>
                        <a:buNone/>
                      </a:pPr>
                      <a:r>
                        <a:rPr lang="en-US" sz="1400" kern="100" dirty="0">
                          <a:effectLst/>
                          <a:latin typeface="Arial" panose="020B0604020202020204" pitchFamily="34" charset="0"/>
                          <a:ea typeface="Times New Roman" panose="02020603050405020304" pitchFamily="18" charset="0"/>
                          <a:cs typeface="Arial" panose="020B0604020202020204" pitchFamily="34" charset="0"/>
                        </a:rPr>
                        <a:t>96.20</a:t>
                      </a:r>
                    </a:p>
                  </a:txBody>
                  <a:tcPr marL="152757" marR="152757" marT="0" marB="0">
                    <a:solidFill>
                      <a:srgbClr val="EAEAEA"/>
                    </a:solidFill>
                  </a:tcPr>
                </a:tc>
                <a:tc>
                  <a:txBody>
                    <a:bodyPr/>
                    <a:lstStyle/>
                    <a:p>
                      <a:pPr marL="0" marR="0" algn="ctr">
                        <a:lnSpc>
                          <a:spcPct val="150000"/>
                        </a:lnSpc>
                        <a:buNone/>
                      </a:pPr>
                      <a:r>
                        <a:rPr lang="en-US" sz="1400" kern="100" dirty="0">
                          <a:effectLst/>
                          <a:latin typeface="Arial" panose="020B0604020202020204" pitchFamily="34" charset="0"/>
                          <a:ea typeface="Times New Roman" panose="02020603050405020304" pitchFamily="18" charset="0"/>
                          <a:cs typeface="Arial" panose="020B0604020202020204" pitchFamily="34" charset="0"/>
                        </a:rPr>
                        <a:t>97.22</a:t>
                      </a:r>
                    </a:p>
                  </a:txBody>
                  <a:tcPr marL="152757" marR="152757" marT="0" marB="0">
                    <a:solidFill>
                      <a:srgbClr val="EAEAEA"/>
                    </a:solidFill>
                  </a:tcPr>
                </a:tc>
                <a:tc>
                  <a:txBody>
                    <a:bodyPr/>
                    <a:lstStyle/>
                    <a:p>
                      <a:pPr marL="0" marR="0" algn="ctr">
                        <a:lnSpc>
                          <a:spcPct val="150000"/>
                        </a:lnSpc>
                        <a:buNone/>
                      </a:pPr>
                      <a:r>
                        <a:rPr lang="en-US" sz="1400" kern="100" dirty="0">
                          <a:effectLst/>
                          <a:latin typeface="Arial" panose="020B0604020202020204" pitchFamily="34" charset="0"/>
                          <a:ea typeface="Times New Roman" panose="02020603050405020304" pitchFamily="18" charset="0"/>
                          <a:cs typeface="Arial" panose="020B0604020202020204" pitchFamily="34" charset="0"/>
                        </a:rPr>
                        <a:t>1.05%</a:t>
                      </a:r>
                    </a:p>
                  </a:txBody>
                  <a:tcPr marL="152757" marR="152757" marT="0" marB="0">
                    <a:solidFill>
                      <a:srgbClr val="EAEAEA"/>
                    </a:solidFill>
                  </a:tcPr>
                </a:tc>
                <a:extLst>
                  <a:ext uri="{0D108BD9-81ED-4DB2-BD59-A6C34878D82A}">
                    <a16:rowId xmlns:a16="http://schemas.microsoft.com/office/drawing/2014/main" val="3890059902"/>
                  </a:ext>
                </a:extLst>
              </a:tr>
            </a:tbl>
          </a:graphicData>
        </a:graphic>
      </p:graphicFrame>
      <p:sp>
        <p:nvSpPr>
          <p:cNvPr id="239" name="TextBox 238">
            <a:extLst>
              <a:ext uri="{FF2B5EF4-FFF2-40B4-BE49-F238E27FC236}">
                <a16:creationId xmlns:a16="http://schemas.microsoft.com/office/drawing/2014/main" id="{2D9F5B5B-D736-216C-4B88-9545381F5C7B}"/>
              </a:ext>
            </a:extLst>
          </p:cNvPr>
          <p:cNvSpPr txBox="1"/>
          <p:nvPr/>
        </p:nvSpPr>
        <p:spPr>
          <a:xfrm>
            <a:off x="18381104" y="20613161"/>
            <a:ext cx="5894445" cy="5509200"/>
          </a:xfrm>
          <a:prstGeom prst="rect">
            <a:avLst/>
          </a:prstGeom>
          <a:noFill/>
        </p:spPr>
        <p:txBody>
          <a:bodyPr wrap="square" rtlCol="0">
            <a:spAutoFit/>
          </a:bodyPr>
          <a:lstStyle/>
          <a:p>
            <a:pPr marL="457200" indent="-457200">
              <a:buFont typeface="Wingdings" panose="05000000000000000000" pitchFamily="2" charset="2"/>
              <a:buChar char="Ø"/>
            </a:pPr>
            <a:r>
              <a:rPr lang="en-US" sz="3200" dirty="0"/>
              <a:t>Heart rate, oxygen saturation and core temperature were collected using existing devices (pulse oximeter, thermometer), then compared data with smart necklace data. </a:t>
            </a:r>
          </a:p>
          <a:p>
            <a:pPr marL="914400" lvl="1" indent="-457200">
              <a:buFont typeface="Wingdings" panose="05000000000000000000" pitchFamily="2" charset="2"/>
              <a:buChar char="v"/>
            </a:pPr>
            <a:r>
              <a:rPr lang="en-US" sz="3200" dirty="0"/>
              <a:t>Readings for pulse oximeter were collected using a finger apparatus</a:t>
            </a:r>
          </a:p>
        </p:txBody>
      </p:sp>
      <p:pic>
        <p:nvPicPr>
          <p:cNvPr id="242" name="Picture 241" descr="A screenshot of a phone&#10;&#10;AI-generated content may be incorrect.">
            <a:extLst>
              <a:ext uri="{FF2B5EF4-FFF2-40B4-BE49-F238E27FC236}">
                <a16:creationId xmlns:a16="http://schemas.microsoft.com/office/drawing/2014/main" id="{4501D344-424F-9E94-B757-777730DFEEE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8885279" y="6768375"/>
            <a:ext cx="1005840" cy="1781604"/>
          </a:xfrm>
          <a:prstGeom prst="rect">
            <a:avLst/>
          </a:prstGeom>
          <a:ln>
            <a:solidFill>
              <a:schemeClr val="tx1"/>
            </a:solidFill>
          </a:ln>
        </p:spPr>
      </p:pic>
      <p:pic>
        <p:nvPicPr>
          <p:cNvPr id="244" name="Picture 243">
            <a:extLst>
              <a:ext uri="{FF2B5EF4-FFF2-40B4-BE49-F238E27FC236}">
                <a16:creationId xmlns:a16="http://schemas.microsoft.com/office/drawing/2014/main" id="{E0407ACE-EEB4-1B20-4AF5-ED0E1CC0B8B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0322761" y="6768375"/>
            <a:ext cx="1005840" cy="1781604"/>
          </a:xfrm>
          <a:prstGeom prst="rect">
            <a:avLst/>
          </a:prstGeom>
          <a:ln>
            <a:solidFill>
              <a:schemeClr val="tx1"/>
            </a:solidFill>
          </a:ln>
        </p:spPr>
      </p:pic>
      <p:graphicFrame>
        <p:nvGraphicFramePr>
          <p:cNvPr id="4" name="Table 3">
            <a:extLst>
              <a:ext uri="{FF2B5EF4-FFF2-40B4-BE49-F238E27FC236}">
                <a16:creationId xmlns:a16="http://schemas.microsoft.com/office/drawing/2014/main" id="{AC887522-131B-56CB-2773-25EFF02BBC28}"/>
              </a:ext>
            </a:extLst>
          </p:cNvPr>
          <p:cNvGraphicFramePr>
            <a:graphicFrameLocks noGrp="1"/>
          </p:cNvGraphicFramePr>
          <p:nvPr>
            <p:extLst>
              <p:ext uri="{D42A27DB-BD31-4B8C-83A1-F6EECF244321}">
                <p14:modId xmlns:p14="http://schemas.microsoft.com/office/powerpoint/2010/main" val="2556611109"/>
              </p:ext>
            </p:extLst>
          </p:nvPr>
        </p:nvGraphicFramePr>
        <p:xfrm>
          <a:off x="1563356" y="17555959"/>
          <a:ext cx="10368913" cy="4011800"/>
        </p:xfrm>
        <a:graphic>
          <a:graphicData uri="http://schemas.openxmlformats.org/drawingml/2006/table">
            <a:tbl>
              <a:tblPr firstRow="1" bandRow="1">
                <a:tableStyleId>{5C22544A-7EE6-4342-B048-85BDC9FD1C3A}</a:tableStyleId>
              </a:tblPr>
              <a:tblGrid>
                <a:gridCol w="1656146">
                  <a:extLst>
                    <a:ext uri="{9D8B030D-6E8A-4147-A177-3AD203B41FA5}">
                      <a16:colId xmlns:a16="http://schemas.microsoft.com/office/drawing/2014/main" val="2198468529"/>
                    </a:ext>
                  </a:extLst>
                </a:gridCol>
                <a:gridCol w="1792856">
                  <a:extLst>
                    <a:ext uri="{9D8B030D-6E8A-4147-A177-3AD203B41FA5}">
                      <a16:colId xmlns:a16="http://schemas.microsoft.com/office/drawing/2014/main" val="1487779685"/>
                    </a:ext>
                  </a:extLst>
                </a:gridCol>
                <a:gridCol w="1737222">
                  <a:extLst>
                    <a:ext uri="{9D8B030D-6E8A-4147-A177-3AD203B41FA5}">
                      <a16:colId xmlns:a16="http://schemas.microsoft.com/office/drawing/2014/main" val="975186999"/>
                    </a:ext>
                  </a:extLst>
                </a:gridCol>
                <a:gridCol w="1799545">
                  <a:extLst>
                    <a:ext uri="{9D8B030D-6E8A-4147-A177-3AD203B41FA5}">
                      <a16:colId xmlns:a16="http://schemas.microsoft.com/office/drawing/2014/main" val="1844077342"/>
                    </a:ext>
                  </a:extLst>
                </a:gridCol>
                <a:gridCol w="863781">
                  <a:extLst>
                    <a:ext uri="{9D8B030D-6E8A-4147-A177-3AD203B41FA5}">
                      <a16:colId xmlns:a16="http://schemas.microsoft.com/office/drawing/2014/main" val="362322488"/>
                    </a:ext>
                  </a:extLst>
                </a:gridCol>
                <a:gridCol w="2519363">
                  <a:extLst>
                    <a:ext uri="{9D8B030D-6E8A-4147-A177-3AD203B41FA5}">
                      <a16:colId xmlns:a16="http://schemas.microsoft.com/office/drawing/2014/main" val="3222050559"/>
                    </a:ext>
                  </a:extLst>
                </a:gridCol>
              </a:tblGrid>
              <a:tr h="306750">
                <a:tc>
                  <a:txBody>
                    <a:bodyPr/>
                    <a:lstStyle/>
                    <a:p>
                      <a:r>
                        <a:rPr lang="en-US" sz="1400" dirty="0">
                          <a:latin typeface="Arial" panose="020B0604020202020204" pitchFamily="34" charset="0"/>
                          <a:cs typeface="Arial" panose="020B0604020202020204" pitchFamily="34" charset="0"/>
                        </a:rPr>
                        <a:t>Component</a:t>
                      </a:r>
                    </a:p>
                  </a:txBody>
                  <a:tcPr>
                    <a:solidFill>
                      <a:srgbClr val="003399"/>
                    </a:solidFill>
                  </a:tcPr>
                </a:tc>
                <a:tc>
                  <a:txBody>
                    <a:bodyPr/>
                    <a:lstStyle/>
                    <a:p>
                      <a:r>
                        <a:rPr lang="en-US" sz="1400" dirty="0">
                          <a:latin typeface="Arial" panose="020B0604020202020204" pitchFamily="34" charset="0"/>
                          <a:cs typeface="Arial" panose="020B0604020202020204" pitchFamily="34" charset="0"/>
                        </a:rPr>
                        <a:t>Function(s)</a:t>
                      </a:r>
                    </a:p>
                  </a:txBody>
                  <a:tcPr>
                    <a:solidFill>
                      <a:srgbClr val="003399"/>
                    </a:solidFill>
                  </a:tcPr>
                </a:tc>
                <a:tc>
                  <a:txBody>
                    <a:bodyPr/>
                    <a:lstStyle/>
                    <a:p>
                      <a:r>
                        <a:rPr lang="en-US" sz="1400" dirty="0">
                          <a:latin typeface="Arial" panose="020B0604020202020204" pitchFamily="34" charset="0"/>
                          <a:cs typeface="Arial" panose="020B0604020202020204" pitchFamily="34" charset="0"/>
                        </a:rPr>
                        <a:t>Data Retrieval/Sampling</a:t>
                      </a:r>
                    </a:p>
                  </a:txBody>
                  <a:tcPr>
                    <a:solidFill>
                      <a:srgbClr val="003399"/>
                    </a:solidFill>
                  </a:tcPr>
                </a:tc>
                <a:tc>
                  <a:txBody>
                    <a:bodyPr/>
                    <a:lstStyle/>
                    <a:p>
                      <a:r>
                        <a:rPr lang="en-US" sz="1400" dirty="0">
                          <a:latin typeface="Arial" panose="020B0604020202020204" pitchFamily="34" charset="0"/>
                          <a:cs typeface="Arial" panose="020B0604020202020204" pitchFamily="34" charset="0"/>
                        </a:rPr>
                        <a:t>Dimensions(mm)</a:t>
                      </a:r>
                    </a:p>
                  </a:txBody>
                  <a:tcPr>
                    <a:solidFill>
                      <a:srgbClr val="003399"/>
                    </a:solidFill>
                  </a:tcPr>
                </a:tc>
                <a:tc>
                  <a:txBody>
                    <a:bodyPr/>
                    <a:lstStyle/>
                    <a:p>
                      <a:r>
                        <a:rPr lang="en-US" sz="1400" dirty="0">
                          <a:latin typeface="Arial" panose="020B0604020202020204" pitchFamily="34" charset="0"/>
                          <a:cs typeface="Arial" panose="020B0604020202020204" pitchFamily="34" charset="0"/>
                        </a:rPr>
                        <a:t>Weight</a:t>
                      </a:r>
                    </a:p>
                  </a:txBody>
                  <a:tcPr>
                    <a:solidFill>
                      <a:srgbClr val="003399"/>
                    </a:solidFill>
                  </a:tcPr>
                </a:tc>
                <a:tc>
                  <a:txBody>
                    <a:bodyPr/>
                    <a:lstStyle/>
                    <a:p>
                      <a:r>
                        <a:rPr lang="en-US" sz="1400" dirty="0">
                          <a:latin typeface="Arial" panose="020B0604020202020204" pitchFamily="34" charset="0"/>
                          <a:cs typeface="Arial" panose="020B0604020202020204" pitchFamily="34" charset="0"/>
                        </a:rPr>
                        <a:t>Sensor Range/Accuracy</a:t>
                      </a:r>
                    </a:p>
                  </a:txBody>
                  <a:tcPr>
                    <a:solidFill>
                      <a:srgbClr val="003399"/>
                    </a:solidFill>
                  </a:tcPr>
                </a:tc>
                <a:extLst>
                  <a:ext uri="{0D108BD9-81ED-4DB2-BD59-A6C34878D82A}">
                    <a16:rowId xmlns:a16="http://schemas.microsoft.com/office/drawing/2014/main" val="2314362229"/>
                  </a:ext>
                </a:extLst>
              </a:tr>
              <a:tr h="169590">
                <a:tc>
                  <a:txBody>
                    <a:bodyPr/>
                    <a:lstStyle/>
                    <a:p>
                      <a:r>
                        <a:rPr lang="en-US" sz="1400" b="1" dirty="0">
                          <a:solidFill>
                            <a:srgbClr val="F8F8F8"/>
                          </a:solidFill>
                          <a:latin typeface="Arial" panose="020B0604020202020204" pitchFamily="34" charset="0"/>
                          <a:cs typeface="Arial" panose="020B0604020202020204" pitchFamily="34" charset="0"/>
                        </a:rPr>
                        <a:t>Battery: 3.7 Volt LiPo 500mAh </a:t>
                      </a:r>
                    </a:p>
                  </a:txBody>
                  <a:tcPr>
                    <a:solidFill>
                      <a:srgbClr val="003399"/>
                    </a:solidFill>
                  </a:tcPr>
                </a:tc>
                <a:tc>
                  <a:txBody>
                    <a:bodyPr/>
                    <a:lstStyle/>
                    <a:p>
                      <a:r>
                        <a:rPr lang="en-US" sz="1400" dirty="0">
                          <a:latin typeface="Arial" panose="020B0604020202020204" pitchFamily="34" charset="0"/>
                          <a:cs typeface="Arial" panose="020B0604020202020204" pitchFamily="34" charset="0"/>
                        </a:rPr>
                        <a:t>Powers wearable smart necklace</a:t>
                      </a:r>
                    </a:p>
                  </a:txBody>
                  <a:tcPr>
                    <a:solidFill>
                      <a:srgbClr val="EAEAEA"/>
                    </a:solidFill>
                  </a:tcPr>
                </a:tc>
                <a:tc>
                  <a:txBody>
                    <a:bodyPr/>
                    <a:lstStyle/>
                    <a:p>
                      <a:r>
                        <a:rPr lang="en-US" sz="1400" dirty="0">
                          <a:latin typeface="Arial" panose="020B0604020202020204" pitchFamily="34" charset="0"/>
                          <a:cs typeface="Arial" panose="020B0604020202020204" pitchFamily="34" charset="0"/>
                        </a:rPr>
                        <a:t>N/A</a:t>
                      </a:r>
                    </a:p>
                  </a:txBody>
                  <a:tcPr>
                    <a:solidFill>
                      <a:srgbClr val="EAEAEA"/>
                    </a:solidFill>
                  </a:tcPr>
                </a:tc>
                <a:tc>
                  <a:txBody>
                    <a:bodyPr/>
                    <a:lstStyle/>
                    <a:p>
                      <a:r>
                        <a:rPr lang="en-US" sz="1400" dirty="0">
                          <a:latin typeface="Arial" panose="020B0604020202020204" pitchFamily="34" charset="0"/>
                          <a:cs typeface="Arial" panose="020B0604020202020204" pitchFamily="34" charset="0"/>
                        </a:rPr>
                        <a:t>52 x 20 x 5</a:t>
                      </a:r>
                    </a:p>
                    <a:p>
                      <a:r>
                        <a:rPr lang="en-US" sz="1400" dirty="0">
                          <a:latin typeface="Arial" panose="020B0604020202020204" pitchFamily="34" charset="0"/>
                          <a:cs typeface="Arial" panose="020B0604020202020204" pitchFamily="34" charset="0"/>
                        </a:rPr>
                        <a:t>(L x W x T)</a:t>
                      </a:r>
                    </a:p>
                  </a:txBody>
                  <a:tcPr>
                    <a:solidFill>
                      <a:srgbClr val="EAEAEA"/>
                    </a:solidFill>
                  </a:tcPr>
                </a:tc>
                <a:tc>
                  <a:txBody>
                    <a:bodyPr/>
                    <a:lstStyle/>
                    <a:p>
                      <a:r>
                        <a:rPr lang="en-US" sz="1400" dirty="0">
                          <a:latin typeface="Arial" panose="020B0604020202020204" pitchFamily="34" charset="0"/>
                          <a:cs typeface="Arial" panose="020B0604020202020204" pitchFamily="34" charset="0"/>
                        </a:rPr>
                        <a:t>10g</a:t>
                      </a:r>
                    </a:p>
                  </a:txBody>
                  <a:tcPr>
                    <a:solidFill>
                      <a:srgbClr val="EAEAEA"/>
                    </a:solidFill>
                  </a:tcPr>
                </a:tc>
                <a:tc>
                  <a:txBody>
                    <a:bodyPr/>
                    <a:lstStyle/>
                    <a:p>
                      <a:r>
                        <a:rPr lang="en-US" sz="1400" dirty="0">
                          <a:latin typeface="Arial" panose="020B0604020202020204" pitchFamily="34" charset="0"/>
                          <a:cs typeface="Arial" panose="020B0604020202020204" pitchFamily="34" charset="0"/>
                        </a:rPr>
                        <a:t>N/A</a:t>
                      </a:r>
                    </a:p>
                  </a:txBody>
                  <a:tcPr>
                    <a:solidFill>
                      <a:srgbClr val="EAEAEA"/>
                    </a:solidFill>
                  </a:tcPr>
                </a:tc>
                <a:extLst>
                  <a:ext uri="{0D108BD9-81ED-4DB2-BD59-A6C34878D82A}">
                    <a16:rowId xmlns:a16="http://schemas.microsoft.com/office/drawing/2014/main" val="3229321719"/>
                  </a:ext>
                </a:extLst>
              </a:tr>
              <a:tr h="337230">
                <a:tc>
                  <a:txBody>
                    <a:bodyPr/>
                    <a:lstStyle/>
                    <a:p>
                      <a:r>
                        <a:rPr lang="en-US" sz="1400" b="1" dirty="0">
                          <a:solidFill>
                            <a:srgbClr val="F8F8F8"/>
                          </a:solidFill>
                          <a:latin typeface="Arial" panose="020B0604020202020204" pitchFamily="34" charset="0"/>
                          <a:cs typeface="Arial" panose="020B0604020202020204" pitchFamily="34" charset="0"/>
                        </a:rPr>
                        <a:t>XIAO ESP32-C3</a:t>
                      </a:r>
                    </a:p>
                  </a:txBody>
                  <a:tcPr>
                    <a:solidFill>
                      <a:srgbClr val="003399"/>
                    </a:solidFill>
                  </a:tcPr>
                </a:tc>
                <a:tc>
                  <a:txBody>
                    <a:bodyPr/>
                    <a:lstStyle/>
                    <a:p>
                      <a:r>
                        <a:rPr lang="en-US" sz="1400" dirty="0">
                          <a:latin typeface="Arial" panose="020B0604020202020204" pitchFamily="34" charset="0"/>
                          <a:cs typeface="Arial" panose="020B0604020202020204" pitchFamily="34" charset="0"/>
                        </a:rPr>
                        <a:t>MCU: BLE, Wi-Fi, sensor comm</a:t>
                      </a:r>
                    </a:p>
                  </a:txBody>
                  <a:tcPr>
                    <a:solidFill>
                      <a:srgbClr val="F8F8F8"/>
                    </a:solidFill>
                  </a:tcPr>
                </a:tc>
                <a:tc>
                  <a:txBody>
                    <a:bodyPr/>
                    <a:lstStyle/>
                    <a:p>
                      <a:r>
                        <a:rPr lang="en-US" sz="1400" dirty="0">
                          <a:latin typeface="Arial" panose="020B0604020202020204" pitchFamily="34" charset="0"/>
                          <a:cs typeface="Arial" panose="020B0604020202020204" pitchFamily="34" charset="0"/>
                        </a:rPr>
                        <a:t>I2C up to 400 kHz</a:t>
                      </a:r>
                    </a:p>
                  </a:txBody>
                  <a:tcPr>
                    <a:solidFill>
                      <a:srgbClr val="F8F8F8"/>
                    </a:solidFill>
                  </a:tcPr>
                </a:tc>
                <a:tc>
                  <a:txBody>
                    <a:bodyPr/>
                    <a:lstStyle/>
                    <a:p>
                      <a:r>
                        <a:rPr lang="en-US" sz="1400" dirty="0">
                          <a:latin typeface="Arial" panose="020B0604020202020204" pitchFamily="34" charset="0"/>
                          <a:cs typeface="Arial" panose="020B0604020202020204" pitchFamily="34" charset="0"/>
                        </a:rPr>
                        <a:t>21 X 17.5 x 3.5</a:t>
                      </a:r>
                    </a:p>
                  </a:txBody>
                  <a:tcPr>
                    <a:solidFill>
                      <a:srgbClr val="F8F8F8"/>
                    </a:solidFill>
                  </a:tcPr>
                </a:tc>
                <a:tc>
                  <a:txBody>
                    <a:bodyPr/>
                    <a:lstStyle/>
                    <a:p>
                      <a:r>
                        <a:rPr lang="en-US" sz="1400" dirty="0">
                          <a:latin typeface="Arial" panose="020B0604020202020204" pitchFamily="34" charset="0"/>
                          <a:cs typeface="Arial" panose="020B0604020202020204" pitchFamily="34" charset="0"/>
                        </a:rPr>
                        <a:t>~3g</a:t>
                      </a:r>
                    </a:p>
                  </a:txBody>
                  <a:tcPr>
                    <a:solidFill>
                      <a:srgbClr val="F8F8F8"/>
                    </a:solidFill>
                  </a:tcPr>
                </a:tc>
                <a:tc>
                  <a:txBody>
                    <a:bodyPr/>
                    <a:lstStyle/>
                    <a:p>
                      <a:r>
                        <a:rPr lang="en-US" sz="1400" dirty="0">
                          <a:latin typeface="Arial" panose="020B0604020202020204" pitchFamily="34" charset="0"/>
                          <a:cs typeface="Arial" panose="020B0604020202020204" pitchFamily="34" charset="0"/>
                        </a:rPr>
                        <a:t>N/A</a:t>
                      </a:r>
                    </a:p>
                  </a:txBody>
                  <a:tcPr>
                    <a:solidFill>
                      <a:srgbClr val="F8F8F8"/>
                    </a:solidFill>
                  </a:tcPr>
                </a:tc>
                <a:extLst>
                  <a:ext uri="{0D108BD9-81ED-4DB2-BD59-A6C34878D82A}">
                    <a16:rowId xmlns:a16="http://schemas.microsoft.com/office/drawing/2014/main" val="870794907"/>
                  </a:ext>
                </a:extLst>
              </a:tr>
              <a:tr h="7635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rgbClr val="F8F8F8"/>
                          </a:solidFill>
                          <a:latin typeface="Arial" panose="020B0604020202020204" pitchFamily="34" charset="0"/>
                          <a:cs typeface="Arial" panose="020B0604020202020204" pitchFamily="34" charset="0"/>
                        </a:rPr>
                        <a:t>MAX30102 Pulse Oximeter / HR Sensor</a:t>
                      </a:r>
                    </a:p>
                  </a:txBody>
                  <a:tcPr>
                    <a:solidFill>
                      <a:srgbClr val="003399"/>
                    </a:solidFill>
                  </a:tcPr>
                </a:tc>
                <a:tc>
                  <a:txBody>
                    <a:bodyPr/>
                    <a:lstStyle/>
                    <a:p>
                      <a:r>
                        <a:rPr lang="en-US" sz="1400" dirty="0">
                          <a:latin typeface="Arial" panose="020B0604020202020204" pitchFamily="34" charset="0"/>
                          <a:cs typeface="Arial" panose="020B0604020202020204" pitchFamily="34" charset="0"/>
                        </a:rPr>
                        <a:t>Heart Rate &amp; SpO₂</a:t>
                      </a:r>
                    </a:p>
                  </a:txBody>
                  <a:tcPr>
                    <a:solidFill>
                      <a:srgbClr val="EAEAEA"/>
                    </a:solidFill>
                  </a:tcPr>
                </a:tc>
                <a:tc>
                  <a:txBody>
                    <a:bodyPr/>
                    <a:lstStyle/>
                    <a:p>
                      <a:r>
                        <a:rPr lang="en-US" sz="1400" dirty="0">
                          <a:latin typeface="Arial" panose="020B0604020202020204" pitchFamily="34" charset="0"/>
                          <a:cs typeface="Arial" panose="020B0604020202020204" pitchFamily="34" charset="0"/>
                        </a:rPr>
                        <a:t>Configurable up to 3200 samples/sec</a:t>
                      </a:r>
                    </a:p>
                  </a:txBody>
                  <a:tcPr>
                    <a:solidFill>
                      <a:srgbClr val="EAEAEA"/>
                    </a:solidFill>
                  </a:tcPr>
                </a:tc>
                <a:tc>
                  <a:txBody>
                    <a:bodyPr/>
                    <a:lstStyle/>
                    <a:p>
                      <a:r>
                        <a:rPr lang="en-US" sz="1400" dirty="0">
                          <a:latin typeface="Arial" panose="020B0604020202020204" pitchFamily="34" charset="0"/>
                          <a:cs typeface="Arial" panose="020B0604020202020204" pitchFamily="34" charset="0"/>
                        </a:rPr>
                        <a:t>~12 x 11 x 3</a:t>
                      </a:r>
                    </a:p>
                  </a:txBody>
                  <a:tcPr>
                    <a:solidFill>
                      <a:srgbClr val="EAEAEA"/>
                    </a:solidFill>
                  </a:tcPr>
                </a:tc>
                <a:tc>
                  <a:txBody>
                    <a:bodyPr/>
                    <a:lstStyle/>
                    <a:p>
                      <a:r>
                        <a:rPr lang="en-US" sz="1400" dirty="0">
                          <a:latin typeface="Arial" panose="020B0604020202020204" pitchFamily="34" charset="0"/>
                          <a:cs typeface="Arial" panose="020B0604020202020204" pitchFamily="34" charset="0"/>
                        </a:rPr>
                        <a:t>~1g</a:t>
                      </a:r>
                    </a:p>
                  </a:txBody>
                  <a:tcPr>
                    <a:solidFill>
                      <a:srgbClr val="EAEAEA"/>
                    </a:solidFill>
                  </a:tcPr>
                </a:tc>
                <a:tc>
                  <a:txBody>
                    <a:bodyPr/>
                    <a:lstStyle/>
                    <a:p>
                      <a:r>
                        <a:rPr lang="en-US" sz="1400" dirty="0">
                          <a:latin typeface="Arial" panose="020B0604020202020204" pitchFamily="34" charset="0"/>
                          <a:cs typeface="Arial" panose="020B0604020202020204" pitchFamily="34" charset="0"/>
                        </a:rPr>
                        <a:t>HR: 30–250 BPM </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SpO₂: 0–100% </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Accuracy: HR ±1–2 BPM, SpO₂ ±2–3%</a:t>
                      </a:r>
                    </a:p>
                  </a:txBody>
                  <a:tcPr>
                    <a:solidFill>
                      <a:srgbClr val="EAEAEA"/>
                    </a:solidFill>
                  </a:tcPr>
                </a:tc>
                <a:extLst>
                  <a:ext uri="{0D108BD9-81ED-4DB2-BD59-A6C34878D82A}">
                    <a16:rowId xmlns:a16="http://schemas.microsoft.com/office/drawing/2014/main" val="2368058613"/>
                  </a:ext>
                </a:extLst>
              </a:tr>
              <a:tr h="3263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rgbClr val="F8F8F8"/>
                          </a:solidFill>
                          <a:latin typeface="Arial" panose="020B0604020202020204" pitchFamily="34" charset="0"/>
                          <a:cs typeface="Arial" panose="020B0604020202020204" pitchFamily="34" charset="0"/>
                        </a:rPr>
                        <a:t>MCP9808 Temperature Sensor</a:t>
                      </a:r>
                    </a:p>
                  </a:txBody>
                  <a:tcPr>
                    <a:solidFill>
                      <a:srgbClr val="003399"/>
                    </a:solidFill>
                  </a:tcPr>
                </a:tc>
                <a:tc>
                  <a:txBody>
                    <a:bodyPr/>
                    <a:lstStyle/>
                    <a:p>
                      <a:r>
                        <a:rPr lang="en-US" sz="1400" dirty="0">
                          <a:latin typeface="Arial" panose="020B0604020202020204" pitchFamily="34" charset="0"/>
                          <a:cs typeface="Arial" panose="020B0604020202020204" pitchFamily="34" charset="0"/>
                        </a:rPr>
                        <a:t>Body/ Ambient Temperature</a:t>
                      </a:r>
                    </a:p>
                  </a:txBody>
                  <a:tcPr>
                    <a:solidFill>
                      <a:srgbClr val="F8F8F8"/>
                    </a:solidFill>
                  </a:tcPr>
                </a:tc>
                <a:tc>
                  <a:txBody>
                    <a:bodyPr/>
                    <a:lstStyle/>
                    <a:p>
                      <a:r>
                        <a:rPr lang="en-US" sz="1400" dirty="0">
                          <a:latin typeface="Arial" panose="020B0604020202020204" pitchFamily="34" charset="0"/>
                          <a:cs typeface="Arial" panose="020B0604020202020204" pitchFamily="34" charset="0"/>
                        </a:rPr>
                        <a:t>0.25 °C resolution, ~250 ms conversion</a:t>
                      </a:r>
                    </a:p>
                  </a:txBody>
                  <a:tcPr>
                    <a:solidFill>
                      <a:srgbClr val="F8F8F8"/>
                    </a:solidFill>
                  </a:tcPr>
                </a:tc>
                <a:tc>
                  <a:txBody>
                    <a:bodyPr/>
                    <a:lstStyle/>
                    <a:p>
                      <a:r>
                        <a:rPr lang="en-US" sz="1400" dirty="0">
                          <a:latin typeface="Arial" panose="020B0604020202020204" pitchFamily="34" charset="0"/>
                          <a:cs typeface="Arial" panose="020B0604020202020204" pitchFamily="34" charset="0"/>
                        </a:rPr>
                        <a:t>4.5 x 4.5 x 1.5</a:t>
                      </a:r>
                    </a:p>
                  </a:txBody>
                  <a:tcPr>
                    <a:solidFill>
                      <a:srgbClr val="F8F8F8"/>
                    </a:solidFill>
                  </a:tcPr>
                </a:tc>
                <a:tc>
                  <a:txBody>
                    <a:bodyPr/>
                    <a:lstStyle/>
                    <a:p>
                      <a:r>
                        <a:rPr lang="en-US" sz="1400" dirty="0">
                          <a:latin typeface="Arial" panose="020B0604020202020204" pitchFamily="34" charset="0"/>
                          <a:cs typeface="Arial" panose="020B0604020202020204" pitchFamily="34" charset="0"/>
                        </a:rPr>
                        <a:t>~1g</a:t>
                      </a:r>
                    </a:p>
                  </a:txBody>
                  <a:tcPr>
                    <a:solidFill>
                      <a:srgbClr val="F8F8F8"/>
                    </a:solidFill>
                  </a:tcPr>
                </a:tc>
                <a:tc>
                  <a:txBody>
                    <a:bodyPr/>
                    <a:lstStyle/>
                    <a:p>
                      <a:pPr>
                        <a:buNone/>
                      </a:pPr>
                      <a:r>
                        <a:rPr lang="en-US" sz="1400" dirty="0">
                          <a:latin typeface="Arial" panose="020B0604020202020204" pitchFamily="34" charset="0"/>
                          <a:cs typeface="Arial" panose="020B0604020202020204" pitchFamily="34" charset="0"/>
                        </a:rPr>
                        <a:t>-40 °C to +125 °C </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Accuracy ±0.5 °C</a:t>
                      </a:r>
                    </a:p>
                  </a:txBody>
                  <a:tcPr anchor="ctr">
                    <a:solidFill>
                      <a:srgbClr val="F8F8F8"/>
                    </a:solidFill>
                  </a:tcPr>
                </a:tc>
                <a:extLst>
                  <a:ext uri="{0D108BD9-81ED-4DB2-BD59-A6C34878D82A}">
                    <a16:rowId xmlns:a16="http://schemas.microsoft.com/office/drawing/2014/main" val="2094485988"/>
                  </a:ext>
                </a:extLst>
              </a:tr>
              <a:tr h="567560">
                <a:tc>
                  <a:txBody>
                    <a:bodyPr/>
                    <a:lstStyle/>
                    <a:p>
                      <a:r>
                        <a:rPr lang="en-US" sz="1400" b="1" dirty="0">
                          <a:solidFill>
                            <a:srgbClr val="F8F8F8"/>
                          </a:solidFill>
                          <a:latin typeface="Arial" panose="020B0604020202020204" pitchFamily="34" charset="0"/>
                          <a:cs typeface="Arial" panose="020B0604020202020204" pitchFamily="34" charset="0"/>
                        </a:rPr>
                        <a:t>Wiring/SynkLinx Housing</a:t>
                      </a:r>
                    </a:p>
                  </a:txBody>
                  <a:tcPr>
                    <a:solidFill>
                      <a:srgbClr val="003399"/>
                    </a:solidFill>
                  </a:tcPr>
                </a:tc>
                <a:tc>
                  <a:txBody>
                    <a:bodyPr/>
                    <a:lstStyle/>
                    <a:p>
                      <a:r>
                        <a:rPr lang="en-US" sz="1400" dirty="0">
                          <a:latin typeface="Arial" panose="020B0604020202020204" pitchFamily="34" charset="0"/>
                          <a:cs typeface="Arial" panose="020B0604020202020204" pitchFamily="34" charset="0"/>
                        </a:rPr>
                        <a:t>Interconnect and wearable housing</a:t>
                      </a:r>
                    </a:p>
                  </a:txBody>
                  <a:tcPr>
                    <a:solidFill>
                      <a:srgbClr val="EAEAEA"/>
                    </a:solidFill>
                  </a:tcPr>
                </a:tc>
                <a:tc>
                  <a:txBody>
                    <a:bodyPr/>
                    <a:lstStyle/>
                    <a:p>
                      <a:pPr>
                        <a:buNone/>
                      </a:pPr>
                      <a:r>
                        <a:rPr lang="en-US" sz="1400" dirty="0">
                          <a:latin typeface="Arial" panose="020B0604020202020204" pitchFamily="34" charset="0"/>
                          <a:cs typeface="Arial" panose="020B0604020202020204" pitchFamily="34" charset="0"/>
                        </a:rPr>
                        <a:t>N/A</a:t>
                      </a:r>
                    </a:p>
                  </a:txBody>
                  <a:tcPr anchor="ctr">
                    <a:solidFill>
                      <a:srgbClr val="EAEAEA"/>
                    </a:solidFill>
                  </a:tcPr>
                </a:tc>
                <a:tc>
                  <a:txBody>
                    <a:bodyPr/>
                    <a:lstStyle/>
                    <a:p>
                      <a:r>
                        <a:rPr lang="en-US" sz="1400" dirty="0">
                          <a:latin typeface="Arial" panose="020B0604020202020204" pitchFamily="34" charset="0"/>
                          <a:cs typeface="Arial" panose="020B0604020202020204" pitchFamily="34" charset="0"/>
                        </a:rPr>
                        <a:t>558 x 25 x 10 </a:t>
                      </a:r>
                    </a:p>
                  </a:txBody>
                  <a:tcPr>
                    <a:solidFill>
                      <a:srgbClr val="EAEAEA"/>
                    </a:solidFill>
                  </a:tcPr>
                </a:tc>
                <a:tc>
                  <a:txBody>
                    <a:bodyPr/>
                    <a:lstStyle/>
                    <a:p>
                      <a:r>
                        <a:rPr lang="en-US" sz="1400" dirty="0">
                          <a:latin typeface="Arial" panose="020B0604020202020204" pitchFamily="34" charset="0"/>
                          <a:cs typeface="Arial" panose="020B0604020202020204" pitchFamily="34" charset="0"/>
                        </a:rPr>
                        <a:t>g</a:t>
                      </a:r>
                    </a:p>
                  </a:txBody>
                  <a:tcPr>
                    <a:solidFill>
                      <a:srgbClr val="EAEAEA"/>
                    </a:solidFill>
                  </a:tcPr>
                </a:tc>
                <a:tc>
                  <a:txBody>
                    <a:bodyPr/>
                    <a:lstStyle/>
                    <a:p>
                      <a:r>
                        <a:rPr lang="en-US" sz="1400" dirty="0">
                          <a:latin typeface="Arial" panose="020B0604020202020204" pitchFamily="34" charset="0"/>
                          <a:cs typeface="Arial" panose="020B0604020202020204" pitchFamily="34" charset="0"/>
                        </a:rPr>
                        <a:t>N/A</a:t>
                      </a:r>
                    </a:p>
                  </a:txBody>
                  <a:tcPr>
                    <a:solidFill>
                      <a:srgbClr val="EAEAEA"/>
                    </a:solidFill>
                  </a:tcPr>
                </a:tc>
                <a:extLst>
                  <a:ext uri="{0D108BD9-81ED-4DB2-BD59-A6C34878D82A}">
                    <a16:rowId xmlns:a16="http://schemas.microsoft.com/office/drawing/2014/main" val="418070603"/>
                  </a:ext>
                </a:extLst>
              </a:tr>
            </a:tbl>
          </a:graphicData>
        </a:graphic>
      </p:graphicFrame>
      <p:pic>
        <p:nvPicPr>
          <p:cNvPr id="21" name="Picture 20" descr="A screenshot of a device&#10;&#10;AI-generated content may be incorrect.">
            <a:extLst>
              <a:ext uri="{FF2B5EF4-FFF2-40B4-BE49-F238E27FC236}">
                <a16:creationId xmlns:a16="http://schemas.microsoft.com/office/drawing/2014/main" id="{3626780A-3ED6-7D50-6E24-C849B66C81F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1793755" y="6766899"/>
            <a:ext cx="998206" cy="1783080"/>
          </a:xfrm>
          <a:prstGeom prst="rect">
            <a:avLst/>
          </a:prstGeom>
          <a:ln>
            <a:solidFill>
              <a:schemeClr val="tx2"/>
            </a:solidFill>
          </a:ln>
        </p:spPr>
      </p:pic>
      <p:sp>
        <p:nvSpPr>
          <p:cNvPr id="22" name="Arrow: Right 21">
            <a:extLst>
              <a:ext uri="{FF2B5EF4-FFF2-40B4-BE49-F238E27FC236}">
                <a16:creationId xmlns:a16="http://schemas.microsoft.com/office/drawing/2014/main" id="{B2BD9F34-A0C0-410E-6464-9E2239009AA1}"/>
              </a:ext>
            </a:extLst>
          </p:cNvPr>
          <p:cNvSpPr/>
          <p:nvPr/>
        </p:nvSpPr>
        <p:spPr bwMode="auto">
          <a:xfrm>
            <a:off x="19902553" y="7491121"/>
            <a:ext cx="414850" cy="228600"/>
          </a:xfrm>
          <a:prstGeom prst="rightArrow">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0805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a:ln>
                <a:noFill/>
              </a:ln>
              <a:solidFill>
                <a:srgbClr val="003399"/>
              </a:solidFill>
              <a:effectLst/>
              <a:latin typeface="Arial" charset="0"/>
            </a:endParaRPr>
          </a:p>
        </p:txBody>
      </p:sp>
      <p:sp>
        <p:nvSpPr>
          <p:cNvPr id="23" name="Arrow: Right 22">
            <a:extLst>
              <a:ext uri="{FF2B5EF4-FFF2-40B4-BE49-F238E27FC236}">
                <a16:creationId xmlns:a16="http://schemas.microsoft.com/office/drawing/2014/main" id="{225D188C-6DA2-3F52-7D32-9F8859959D47}"/>
              </a:ext>
            </a:extLst>
          </p:cNvPr>
          <p:cNvSpPr/>
          <p:nvPr/>
        </p:nvSpPr>
        <p:spPr bwMode="auto">
          <a:xfrm>
            <a:off x="21334266" y="7491121"/>
            <a:ext cx="445698" cy="228600"/>
          </a:xfrm>
          <a:prstGeom prst="rightArrow">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0805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a:ln>
                <a:noFill/>
              </a:ln>
              <a:solidFill>
                <a:srgbClr val="003399"/>
              </a:solidFill>
              <a:effectLst/>
              <a:latin typeface="Arial" charset="0"/>
            </a:endParaRPr>
          </a:p>
        </p:txBody>
      </p:sp>
      <p:sp>
        <p:nvSpPr>
          <p:cNvPr id="24" name="Arrow: Right 23">
            <a:extLst>
              <a:ext uri="{FF2B5EF4-FFF2-40B4-BE49-F238E27FC236}">
                <a16:creationId xmlns:a16="http://schemas.microsoft.com/office/drawing/2014/main" id="{83178456-2D7F-2299-9801-E8119FDB3362}"/>
              </a:ext>
            </a:extLst>
          </p:cNvPr>
          <p:cNvSpPr/>
          <p:nvPr/>
        </p:nvSpPr>
        <p:spPr bwMode="auto">
          <a:xfrm>
            <a:off x="22805752" y="7491121"/>
            <a:ext cx="411694" cy="228600"/>
          </a:xfrm>
          <a:prstGeom prst="rightArrow">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0805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a:ln>
                <a:noFill/>
              </a:ln>
              <a:solidFill>
                <a:srgbClr val="003399"/>
              </a:solidFill>
              <a:effectLst/>
              <a:latin typeface="Arial" charset="0"/>
            </a:endParaRPr>
          </a:p>
        </p:txBody>
      </p:sp>
      <p:sp>
        <p:nvSpPr>
          <p:cNvPr id="25" name="TextBox 24">
            <a:extLst>
              <a:ext uri="{FF2B5EF4-FFF2-40B4-BE49-F238E27FC236}">
                <a16:creationId xmlns:a16="http://schemas.microsoft.com/office/drawing/2014/main" id="{8CD4B693-86DF-01B4-A290-4B280782B7E0}"/>
              </a:ext>
            </a:extLst>
          </p:cNvPr>
          <p:cNvSpPr txBox="1"/>
          <p:nvPr/>
        </p:nvSpPr>
        <p:spPr>
          <a:xfrm>
            <a:off x="18885279" y="8646009"/>
            <a:ext cx="5345220" cy="584775"/>
          </a:xfrm>
          <a:prstGeom prst="rect">
            <a:avLst/>
          </a:prstGeom>
          <a:noFill/>
        </p:spPr>
        <p:txBody>
          <a:bodyPr wrap="square" rtlCol="0">
            <a:spAutoFit/>
          </a:bodyPr>
          <a:lstStyle/>
          <a:p>
            <a:pPr algn="ctr"/>
            <a:r>
              <a:rPr lang="en-US" sz="3200" dirty="0"/>
              <a:t>App Transition Screens</a:t>
            </a:r>
          </a:p>
        </p:txBody>
      </p:sp>
      <p:sp>
        <p:nvSpPr>
          <p:cNvPr id="26" name="TextBox 25">
            <a:extLst>
              <a:ext uri="{FF2B5EF4-FFF2-40B4-BE49-F238E27FC236}">
                <a16:creationId xmlns:a16="http://schemas.microsoft.com/office/drawing/2014/main" id="{D6048623-1871-7151-A4D1-C43317F438E9}"/>
              </a:ext>
            </a:extLst>
          </p:cNvPr>
          <p:cNvSpPr txBox="1"/>
          <p:nvPr/>
        </p:nvSpPr>
        <p:spPr>
          <a:xfrm>
            <a:off x="13554210" y="6611290"/>
            <a:ext cx="5458808" cy="584775"/>
          </a:xfrm>
          <a:prstGeom prst="rect">
            <a:avLst/>
          </a:prstGeom>
          <a:noFill/>
        </p:spPr>
        <p:txBody>
          <a:bodyPr wrap="square" rtlCol="0">
            <a:spAutoFit/>
          </a:bodyPr>
          <a:lstStyle/>
          <a:p>
            <a:pPr algn="ctr"/>
            <a:r>
              <a:rPr lang="en-US" sz="3200" dirty="0"/>
              <a:t>Device Flowchart</a:t>
            </a:r>
          </a:p>
        </p:txBody>
      </p:sp>
      <p:sp>
        <p:nvSpPr>
          <p:cNvPr id="27" name="TextBox 26">
            <a:extLst>
              <a:ext uri="{FF2B5EF4-FFF2-40B4-BE49-F238E27FC236}">
                <a16:creationId xmlns:a16="http://schemas.microsoft.com/office/drawing/2014/main" id="{0B173FE7-DC0F-47AD-C35F-1EEC8A46B3CA}"/>
              </a:ext>
            </a:extLst>
          </p:cNvPr>
          <p:cNvSpPr txBox="1"/>
          <p:nvPr/>
        </p:nvSpPr>
        <p:spPr>
          <a:xfrm>
            <a:off x="18208951" y="14589911"/>
            <a:ext cx="6238752" cy="585910"/>
          </a:xfrm>
          <a:prstGeom prst="rect">
            <a:avLst/>
          </a:prstGeom>
          <a:noFill/>
        </p:spPr>
        <p:txBody>
          <a:bodyPr wrap="square" rtlCol="0">
            <a:spAutoFit/>
          </a:bodyPr>
          <a:lstStyle/>
          <a:p>
            <a:r>
              <a:rPr lang="en-US" sz="3200" dirty="0"/>
              <a:t>Service &amp; Characteristic UUIDs </a:t>
            </a:r>
          </a:p>
        </p:txBody>
      </p:sp>
      <p:pic>
        <p:nvPicPr>
          <p:cNvPr id="29" name="Picture 28" descr="A computer screen shot of a black screen&#10;&#10;AI-generated content may be incorrect.">
            <a:extLst>
              <a:ext uri="{FF2B5EF4-FFF2-40B4-BE49-F238E27FC236}">
                <a16:creationId xmlns:a16="http://schemas.microsoft.com/office/drawing/2014/main" id="{4A7C4792-732E-CCC3-DC65-449AE50C9034}"/>
              </a:ext>
            </a:extLst>
          </p:cNvPr>
          <p:cNvPicPr>
            <a:picLocks noChangeAspect="1"/>
          </p:cNvPicPr>
          <p:nvPr/>
        </p:nvPicPr>
        <p:blipFill>
          <a:blip r:embed="rId10" cstate="print">
            <a:extLst>
              <a:ext uri="{28A0092B-C50C-407E-A947-70E740481C1C}">
                <a14:useLocalDpi xmlns:a14="http://schemas.microsoft.com/office/drawing/2010/main" val="0"/>
              </a:ext>
            </a:extLst>
          </a:blip>
          <a:srcRect r="29034"/>
          <a:stretch>
            <a:fillRect/>
          </a:stretch>
        </p:blipFill>
        <p:spPr>
          <a:xfrm>
            <a:off x="19224733" y="9577395"/>
            <a:ext cx="4561593" cy="1958430"/>
          </a:xfrm>
          <a:prstGeom prst="rect">
            <a:avLst/>
          </a:prstGeom>
        </p:spPr>
      </p:pic>
      <p:pic>
        <p:nvPicPr>
          <p:cNvPr id="31" name="Picture 30" descr="A computer screen with text and numbers&#10;&#10;AI-generated content may be incorrect.">
            <a:extLst>
              <a:ext uri="{FF2B5EF4-FFF2-40B4-BE49-F238E27FC236}">
                <a16:creationId xmlns:a16="http://schemas.microsoft.com/office/drawing/2014/main" id="{F1A96E5A-89DB-6A61-512C-34B91C21BC46}"/>
              </a:ext>
            </a:extLst>
          </p:cNvPr>
          <p:cNvPicPr>
            <a:picLocks noChangeAspect="1"/>
          </p:cNvPicPr>
          <p:nvPr/>
        </p:nvPicPr>
        <p:blipFill>
          <a:blip r:embed="rId11" cstate="print">
            <a:extLst>
              <a:ext uri="{28A0092B-C50C-407E-A947-70E740481C1C}">
                <a14:useLocalDpi xmlns:a14="http://schemas.microsoft.com/office/drawing/2010/main" val="0"/>
              </a:ext>
            </a:extLst>
          </a:blip>
          <a:srcRect l="-223" t="635" r="12106" b="-635"/>
          <a:stretch>
            <a:fillRect/>
          </a:stretch>
        </p:blipFill>
        <p:spPr>
          <a:xfrm>
            <a:off x="19241239" y="12009119"/>
            <a:ext cx="4603649" cy="1882956"/>
          </a:xfrm>
          <a:prstGeom prst="rect">
            <a:avLst/>
          </a:prstGeom>
        </p:spPr>
      </p:pic>
      <p:sp>
        <p:nvSpPr>
          <p:cNvPr id="33" name="TextBox 32">
            <a:extLst>
              <a:ext uri="{FF2B5EF4-FFF2-40B4-BE49-F238E27FC236}">
                <a16:creationId xmlns:a16="http://schemas.microsoft.com/office/drawing/2014/main" id="{2E4221A1-D2CB-2891-BCD1-DAF33AC618E3}"/>
              </a:ext>
            </a:extLst>
          </p:cNvPr>
          <p:cNvSpPr txBox="1"/>
          <p:nvPr/>
        </p:nvSpPr>
        <p:spPr>
          <a:xfrm>
            <a:off x="19897154" y="11599574"/>
            <a:ext cx="3312738" cy="338554"/>
          </a:xfrm>
          <a:prstGeom prst="rect">
            <a:avLst/>
          </a:prstGeom>
          <a:noFill/>
        </p:spPr>
        <p:txBody>
          <a:bodyPr wrap="square" rtlCol="0">
            <a:spAutoFit/>
          </a:bodyPr>
          <a:lstStyle/>
          <a:p>
            <a:pPr algn="ctr"/>
            <a:r>
              <a:rPr lang="en-US" sz="1600" dirty="0"/>
              <a:t>useBLE.jsx file via React Native</a:t>
            </a:r>
          </a:p>
        </p:txBody>
      </p:sp>
      <p:sp>
        <p:nvSpPr>
          <p:cNvPr id="34" name="TextBox 33">
            <a:extLst>
              <a:ext uri="{FF2B5EF4-FFF2-40B4-BE49-F238E27FC236}">
                <a16:creationId xmlns:a16="http://schemas.microsoft.com/office/drawing/2014/main" id="{846E67B3-F8FA-CF4E-8524-F483A470666B}"/>
              </a:ext>
            </a:extLst>
          </p:cNvPr>
          <p:cNvSpPr txBox="1"/>
          <p:nvPr/>
        </p:nvSpPr>
        <p:spPr>
          <a:xfrm>
            <a:off x="19849160" y="13945134"/>
            <a:ext cx="3312738" cy="338554"/>
          </a:xfrm>
          <a:prstGeom prst="rect">
            <a:avLst/>
          </a:prstGeom>
          <a:noFill/>
        </p:spPr>
        <p:txBody>
          <a:bodyPr wrap="square" rtlCol="0">
            <a:spAutoFit/>
          </a:bodyPr>
          <a:lstStyle/>
          <a:p>
            <a:pPr algn="ctr"/>
            <a:r>
              <a:rPr lang="en-US" sz="1600" dirty="0"/>
              <a:t>Firmware.cpp via Arduino IDE</a:t>
            </a:r>
          </a:p>
        </p:txBody>
      </p:sp>
      <p:sp>
        <p:nvSpPr>
          <p:cNvPr id="35" name="TextBox 34">
            <a:extLst>
              <a:ext uri="{FF2B5EF4-FFF2-40B4-BE49-F238E27FC236}">
                <a16:creationId xmlns:a16="http://schemas.microsoft.com/office/drawing/2014/main" id="{E2EB98E0-3BF5-E44B-04F8-B5AE4C6C4B10}"/>
              </a:ext>
            </a:extLst>
          </p:cNvPr>
          <p:cNvSpPr txBox="1"/>
          <p:nvPr/>
        </p:nvSpPr>
        <p:spPr>
          <a:xfrm>
            <a:off x="26737574" y="11602552"/>
            <a:ext cx="3312738" cy="338554"/>
          </a:xfrm>
          <a:prstGeom prst="rect">
            <a:avLst/>
          </a:prstGeom>
          <a:noFill/>
        </p:spPr>
        <p:txBody>
          <a:bodyPr wrap="square" rtlCol="0">
            <a:spAutoFit/>
          </a:bodyPr>
          <a:lstStyle/>
          <a:p>
            <a:pPr algn="ctr"/>
            <a:r>
              <a:rPr lang="en-US" sz="1600" dirty="0"/>
              <a:t>Figure 1.System Block Diagram</a:t>
            </a:r>
          </a:p>
        </p:txBody>
      </p:sp>
      <p:sp>
        <p:nvSpPr>
          <p:cNvPr id="36" name="TextBox 35">
            <a:extLst>
              <a:ext uri="{FF2B5EF4-FFF2-40B4-BE49-F238E27FC236}">
                <a16:creationId xmlns:a16="http://schemas.microsoft.com/office/drawing/2014/main" id="{038C06D3-80A3-C1A3-4247-519F3FC320D4}"/>
              </a:ext>
            </a:extLst>
          </p:cNvPr>
          <p:cNvSpPr txBox="1"/>
          <p:nvPr/>
        </p:nvSpPr>
        <p:spPr>
          <a:xfrm>
            <a:off x="26238276" y="14952464"/>
            <a:ext cx="4123426" cy="338554"/>
          </a:xfrm>
          <a:prstGeom prst="rect">
            <a:avLst/>
          </a:prstGeom>
          <a:noFill/>
        </p:spPr>
        <p:txBody>
          <a:bodyPr wrap="square" rtlCol="0">
            <a:spAutoFit/>
          </a:bodyPr>
          <a:lstStyle/>
          <a:p>
            <a:pPr algn="ctr"/>
            <a:r>
              <a:rPr lang="en-US" sz="1600" dirty="0"/>
              <a:t>Figure 2. SynkLinx Prototype (in use)</a:t>
            </a:r>
          </a:p>
        </p:txBody>
      </p:sp>
      <p:sp>
        <p:nvSpPr>
          <p:cNvPr id="37" name="TextBox 36">
            <a:extLst>
              <a:ext uri="{FF2B5EF4-FFF2-40B4-BE49-F238E27FC236}">
                <a16:creationId xmlns:a16="http://schemas.microsoft.com/office/drawing/2014/main" id="{3A8FE54C-96AB-F73A-D48D-06BB6DF050F3}"/>
              </a:ext>
            </a:extLst>
          </p:cNvPr>
          <p:cNvSpPr txBox="1"/>
          <p:nvPr/>
        </p:nvSpPr>
        <p:spPr>
          <a:xfrm>
            <a:off x="18884519" y="9263587"/>
            <a:ext cx="5338007" cy="5016758"/>
          </a:xfrm>
          <a:prstGeom prst="rect">
            <a:avLst/>
          </a:prstGeom>
          <a:noFill/>
          <a:ln>
            <a:solidFill>
              <a:schemeClr val="tx1"/>
            </a:solidFill>
          </a:ln>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9" name="Picture 8" descr="A person wearing a necklace&#10;&#10;AI-generated content may be incorrect.">
            <a:extLst>
              <a:ext uri="{FF2B5EF4-FFF2-40B4-BE49-F238E27FC236}">
                <a16:creationId xmlns:a16="http://schemas.microsoft.com/office/drawing/2014/main" id="{3E32FD25-0E3D-F41F-FCEE-CB23D30C314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5984199" y="12083605"/>
            <a:ext cx="4646295" cy="2769918"/>
          </a:xfrm>
          <a:prstGeom prst="rect">
            <a:avLst/>
          </a:prstGeom>
          <a:ln>
            <a:solidFill>
              <a:schemeClr val="tx1"/>
            </a:solidFill>
          </a:ln>
        </p:spPr>
      </p:pic>
      <p:graphicFrame>
        <p:nvGraphicFramePr>
          <p:cNvPr id="13" name="Chart 12">
            <a:extLst>
              <a:ext uri="{FF2B5EF4-FFF2-40B4-BE49-F238E27FC236}">
                <a16:creationId xmlns:a16="http://schemas.microsoft.com/office/drawing/2014/main" id="{9CCD25A2-0241-0232-02B0-BD14DF87810E}"/>
              </a:ext>
            </a:extLst>
          </p:cNvPr>
          <p:cNvGraphicFramePr>
            <a:graphicFrameLocks/>
          </p:cNvGraphicFramePr>
          <p:nvPr>
            <p:extLst>
              <p:ext uri="{D42A27DB-BD31-4B8C-83A1-F6EECF244321}">
                <p14:modId xmlns:p14="http://schemas.microsoft.com/office/powerpoint/2010/main" val="2632423992"/>
              </p:ext>
            </p:extLst>
          </p:nvPr>
        </p:nvGraphicFramePr>
        <p:xfrm>
          <a:off x="13469063" y="21248632"/>
          <a:ext cx="4572000" cy="2286000"/>
        </p:xfrm>
        <a:graphic>
          <a:graphicData uri="http://schemas.openxmlformats.org/drawingml/2006/chart">
            <c:chart xmlns:c="http://schemas.openxmlformats.org/drawingml/2006/chart" xmlns:r="http://schemas.openxmlformats.org/officeDocument/2006/relationships" r:id="rId13"/>
          </a:graphicData>
        </a:graphic>
      </p:graphicFrame>
      <p:graphicFrame>
        <p:nvGraphicFramePr>
          <p:cNvPr id="14" name="Chart 13">
            <a:extLst>
              <a:ext uri="{FF2B5EF4-FFF2-40B4-BE49-F238E27FC236}">
                <a16:creationId xmlns:a16="http://schemas.microsoft.com/office/drawing/2014/main" id="{7A80A425-E392-A5C1-9AE1-56C82370AAB2}"/>
              </a:ext>
            </a:extLst>
          </p:cNvPr>
          <p:cNvGraphicFramePr>
            <a:graphicFrameLocks/>
          </p:cNvGraphicFramePr>
          <p:nvPr>
            <p:extLst>
              <p:ext uri="{D42A27DB-BD31-4B8C-83A1-F6EECF244321}">
                <p14:modId xmlns:p14="http://schemas.microsoft.com/office/powerpoint/2010/main" val="88025834"/>
              </p:ext>
            </p:extLst>
          </p:nvPr>
        </p:nvGraphicFramePr>
        <p:xfrm>
          <a:off x="13469063" y="18721257"/>
          <a:ext cx="4572000" cy="2286000"/>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15" name="Chart 14">
            <a:extLst>
              <a:ext uri="{FF2B5EF4-FFF2-40B4-BE49-F238E27FC236}">
                <a16:creationId xmlns:a16="http://schemas.microsoft.com/office/drawing/2014/main" id="{1C2B7C7F-D560-71C1-CFC0-2DDEFC59460E}"/>
              </a:ext>
            </a:extLst>
          </p:cNvPr>
          <p:cNvGraphicFramePr>
            <a:graphicFrameLocks/>
          </p:cNvGraphicFramePr>
          <p:nvPr>
            <p:extLst>
              <p:ext uri="{D42A27DB-BD31-4B8C-83A1-F6EECF244321}">
                <p14:modId xmlns:p14="http://schemas.microsoft.com/office/powerpoint/2010/main" val="3077222578"/>
              </p:ext>
            </p:extLst>
          </p:nvPr>
        </p:nvGraphicFramePr>
        <p:xfrm>
          <a:off x="13469063" y="23816925"/>
          <a:ext cx="4572000" cy="2286000"/>
        </p:xfrm>
        <a:graphic>
          <a:graphicData uri="http://schemas.openxmlformats.org/drawingml/2006/chart">
            <c:chart xmlns:c="http://schemas.openxmlformats.org/drawingml/2006/chart" xmlns:r="http://schemas.openxmlformats.org/officeDocument/2006/relationships" r:id="rId15"/>
          </a:graphicData>
        </a:graphic>
      </p:graphicFrame>
      <p:pic>
        <p:nvPicPr>
          <p:cNvPr id="17" name="Picture 16" descr="A beaded necklace on a black surface&#10;&#10;AI-generated content may be incorrect.">
            <a:extLst>
              <a:ext uri="{FF2B5EF4-FFF2-40B4-BE49-F238E27FC236}">
                <a16:creationId xmlns:a16="http://schemas.microsoft.com/office/drawing/2014/main" id="{3C0F892E-A77C-337A-5725-AE312EF8004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1495866" y="11938128"/>
            <a:ext cx="5252536" cy="2920873"/>
          </a:xfrm>
          <a:prstGeom prst="rect">
            <a:avLst/>
          </a:prstGeom>
        </p:spPr>
      </p:pic>
      <p:sp>
        <p:nvSpPr>
          <p:cNvPr id="18" name="TextBox 17">
            <a:extLst>
              <a:ext uri="{FF2B5EF4-FFF2-40B4-BE49-F238E27FC236}">
                <a16:creationId xmlns:a16="http://schemas.microsoft.com/office/drawing/2014/main" id="{7EDFB77F-A954-9A3E-C936-F5B62EB84C87}"/>
              </a:ext>
            </a:extLst>
          </p:cNvPr>
          <p:cNvSpPr txBox="1"/>
          <p:nvPr/>
        </p:nvSpPr>
        <p:spPr>
          <a:xfrm>
            <a:off x="32465765" y="14916172"/>
            <a:ext cx="3312738" cy="338554"/>
          </a:xfrm>
          <a:prstGeom prst="rect">
            <a:avLst/>
          </a:prstGeom>
          <a:noFill/>
        </p:spPr>
        <p:txBody>
          <a:bodyPr wrap="square" rtlCol="0">
            <a:spAutoFit/>
          </a:bodyPr>
          <a:lstStyle/>
          <a:p>
            <a:pPr algn="ctr"/>
            <a:r>
              <a:rPr lang="en-US" sz="1600" dirty="0"/>
              <a:t>Figure 3. SynkLinx Prototype</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0066"/>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08050" rtl="0" eaLnBrk="0" fontAlgn="base" latinLnBrk="0" hangingPunct="0">
          <a:lnSpc>
            <a:spcPct val="100000"/>
          </a:lnSpc>
          <a:spcBef>
            <a:spcPct val="0"/>
          </a:spcBef>
          <a:spcAft>
            <a:spcPct val="0"/>
          </a:spcAft>
          <a:buClrTx/>
          <a:buSzTx/>
          <a:buFontTx/>
          <a:buNone/>
          <a:tabLst/>
          <a:defRPr kumimoji="0" lang="en-US" sz="4000" b="1" i="0" u="none" strike="noStrike" cap="none" normalizeH="0" baseline="0" smtClean="0">
            <a:ln>
              <a:noFill/>
            </a:ln>
            <a:solidFill>
              <a:srgbClr val="003399"/>
            </a:solidFill>
            <a:effectLst/>
            <a:latin typeface="Arial" charset="0"/>
          </a:defRPr>
        </a:defPPr>
      </a:lstStyle>
    </a:spDef>
    <a:lnDef>
      <a:spPr bwMode="auto">
        <a:xfrm>
          <a:off x="0" y="0"/>
          <a:ext cx="1" cy="1"/>
        </a:xfrm>
        <a:custGeom>
          <a:avLst/>
          <a:gdLst/>
          <a:ahLst/>
          <a:cxnLst/>
          <a:rect l="0" t="0" r="0" b="0"/>
          <a:pathLst/>
        </a:custGeom>
        <a:solidFill>
          <a:srgbClr val="000066"/>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08050" rtl="0" eaLnBrk="0" fontAlgn="base" latinLnBrk="0" hangingPunct="0">
          <a:lnSpc>
            <a:spcPct val="100000"/>
          </a:lnSpc>
          <a:spcBef>
            <a:spcPct val="0"/>
          </a:spcBef>
          <a:spcAft>
            <a:spcPct val="0"/>
          </a:spcAft>
          <a:buClrTx/>
          <a:buSzTx/>
          <a:buFontTx/>
          <a:buNone/>
          <a:tabLst/>
          <a:defRPr kumimoji="0" lang="en-US" sz="4000" b="1" i="0" u="none" strike="noStrike" cap="none" normalizeH="0" baseline="0" smtClean="0">
            <a:ln>
              <a:noFill/>
            </a:ln>
            <a:solidFill>
              <a:srgbClr val="003399"/>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9912</TotalTime>
  <Words>685</Words>
  <Application>Microsoft Office PowerPoint</Application>
  <PresentationFormat>Custom</PresentationFormat>
  <Paragraphs>118</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Arial Rounded MT Bold</vt:lpstr>
      <vt:lpstr>Franklin Gothic Demi</vt:lpstr>
      <vt:lpstr>Times New Roman</vt:lpstr>
      <vt:lpstr>Wingdings</vt:lpstr>
      <vt:lpstr>Blank Presentation</vt:lpstr>
      <vt:lpstr>PowerPoint Presentation</vt:lpstr>
    </vt:vector>
  </TitlesOfParts>
  <Company>Mechanical Engineering VT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Michael Alley</dc:creator>
  <cp:lastModifiedBy>Jordan Abron</cp:lastModifiedBy>
  <cp:revision>140</cp:revision>
  <cp:lastPrinted>2013-04-15T23:05:55Z</cp:lastPrinted>
  <dcterms:created xsi:type="dcterms:W3CDTF">2003-04-11T15:30:44Z</dcterms:created>
  <dcterms:modified xsi:type="dcterms:W3CDTF">2025-12-10T03:05:04Z</dcterms:modified>
</cp:coreProperties>
</file>